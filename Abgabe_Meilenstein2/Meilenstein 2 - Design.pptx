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3.xml" ContentType="application/vnd.openxmlformats-officedocument.them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33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32.xml" ContentType="application/vnd.openxmlformats-officedocument.presentationml.slide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howSpecialPlsOnTitleSld="0">
  <p:sldMasterIdLst>
    <p:sldMasterId id="2147483648" r:id="rId1"/>
    <p:sldMasterId id="2147483653" r:id="rId2"/>
  </p:sldMasterIdLst>
  <p:notesMasterIdLst>
    <p:notesMasterId r:id="rId4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12192000" cy="6858000"/>
  <p:notesSz cx="9928225" cy="6797675"/>
  <p:defaultTextStyle>
    <a:defPPr>
      <a:defRPr lang="de-DE"/>
    </a:defPPr>
    <a:lvl1pPr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1pPr>
    <a:lvl2pPr marL="4572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2pPr>
    <a:lvl3pPr marL="9144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3pPr>
    <a:lvl4pPr marL="13716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4pPr>
    <a:lvl5pPr marL="18288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5pPr>
    <a:lvl6pPr marL="2286000" algn="l" defTabSz="914400" rtl="0">
      <a:defRPr>
        <a:solidFill>
          <a:schemeClr val="tx1"/>
        </a:solidFill>
        <a:latin typeface="Arial"/>
        <a:ea typeface="+mn-ea"/>
        <a:cs typeface="Arial"/>
      </a:defRPr>
    </a:lvl6pPr>
    <a:lvl7pPr marL="2743200" algn="l" defTabSz="914400" rtl="0">
      <a:defRPr>
        <a:solidFill>
          <a:schemeClr val="tx1"/>
        </a:solidFill>
        <a:latin typeface="Arial"/>
        <a:ea typeface="+mn-ea"/>
        <a:cs typeface="Arial"/>
      </a:defRPr>
    </a:lvl7pPr>
    <a:lvl8pPr marL="3200400" algn="l" defTabSz="914400" rtl="0">
      <a:defRPr>
        <a:solidFill>
          <a:schemeClr val="tx1"/>
        </a:solidFill>
        <a:latin typeface="Arial"/>
        <a:ea typeface="+mn-ea"/>
        <a:cs typeface="Arial"/>
      </a:defRPr>
    </a:lvl8pPr>
    <a:lvl9pPr marL="3657600" algn="l" defTabSz="914400" rtl="0">
      <a:defRPr>
        <a:solidFill>
          <a:schemeClr val="tx1"/>
        </a:solidFill>
        <a:latin typeface="Arial"/>
        <a:ea typeface="+mn-ea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20" d="100"/>
          <a:sy n="120" d="100"/>
        </p:scale>
        <p:origin x="120" y="3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 /><Relationship Id="rId43" Type="http://schemas.openxmlformats.org/officeDocument/2006/relationships/tableStyles" Target="tableStyles.xml" /><Relationship Id="rId4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647073" name="Rectangle 2"/>
          <p:cNvSpPr>
            <a:spLocks noChangeArrowheads="1" noGrp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t" anchorCtr="0" compatLnSpc="1">
            <a:prstTxWarp prst="textNoShape"/>
          </a:bodyPr>
          <a:lstStyle>
            <a:lvl1pPr algn="l">
              <a:defRPr sz="120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66948894" name="Rectangle 3"/>
          <p:cNvSpPr>
            <a:spLocks noChangeArrowheads="1" noGrp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t" anchorCtr="0" compatLnSpc="1">
            <a:prstTxWarp prst="textNoShape"/>
          </a:bodyPr>
          <a:lstStyle>
            <a:lvl1pPr algn="r">
              <a:defRPr sz="120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230723089" name="Rectangle 4"/>
          <p:cNvSpPr>
            <a:spLocks noChangeArrowheads="1" noChangeAspect="1" noGrp="1" noRot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871440641" name="Rectangle 5"/>
          <p:cNvSpPr>
            <a:spLocks noChangeArrowheads="1" noGrp="1"/>
          </p:cNvSpPr>
          <p:nvPr>
            <p:ph type="body" sz="quarter" idx="3"/>
          </p:nvPr>
        </p:nvSpPr>
        <p:spPr bwMode="auto">
          <a:xfrm>
            <a:off x="992360" y="3228190"/>
            <a:ext cx="7943508" cy="305971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t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Textmasterformate durch Klicken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95619272" name="Rectangle 6"/>
          <p:cNvSpPr>
            <a:spLocks noChangeArrowheads="1" noGrp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b" anchorCtr="0" compatLnSpc="1">
            <a:prstTxWarp prst="textNoShape"/>
          </a:bodyPr>
          <a:lstStyle>
            <a:lvl1pPr algn="l">
              <a:defRPr sz="120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906524177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b" anchorCtr="0" compatLnSpc="1">
            <a:prstTxWarp prst="textNoShape"/>
          </a:bodyPr>
          <a:lstStyle>
            <a:lvl1pPr algn="r">
              <a:defRPr sz="1200"/>
            </a:lvl1pPr>
          </a:lstStyle>
          <a:p>
            <a:pPr>
              <a:defRPr/>
            </a:pPr>
            <a:fld id="{5EB2B633-7BEC-49A7-B3BF-92E0C7E450E6}" type="slidenum">
              <a:rPr lang="de-DE"/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1pPr>
    <a:lvl2pPr marL="4572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2pPr>
    <a:lvl3pPr marL="9144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3pPr>
    <a:lvl4pPr marL="13716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4pPr>
    <a:lvl5pPr marL="18288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589256" name="Folienbildplatzhalt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500676" name="Notizenplatzhalt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593099968" name="Foliennummernplatzhalt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5EB2B633-7BEC-49A7-B3BF-92E0C7E450E6}" type="slidenum">
              <a:rPr lang="de-DE"/>
              <a:t>1</a:t>
            </a:fld>
            <a:endParaRPr 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894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83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5921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C52BDD-6E07-A921-BE07-B3AA5F7256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07968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33243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3469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4566AF-2467-8643-6028-CB8D2C56AA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9619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84177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721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AC8061-9E72-9C5A-30CE-45D425BA29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41520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97871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7472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09F55-63CA-D4B3-B056-F57F916715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40652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9799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31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3BAECC-4784-02B8-EAF1-EC6BA4BC91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482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320332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2853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7E7979-0E94-38B9-BEE9-966FEC3C9E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02301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63849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4800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66D569-23EF-220D-C7DD-40D032336F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4723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8364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40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D47ACF-6C0C-ED66-C3BC-99C529977E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4920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1780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8797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72706B-BE10-888A-D3E5-9D63BBF515D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7919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3875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5502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4E0BC-9DC7-8295-D71D-21892C22D34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20705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4384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104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624C27-0253-1845-42F5-498E0D0FDF3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43032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58427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2286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9E14B6-0629-C3B8-4CF5-D445F31575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2138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7054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959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D6460B-2C88-82D2-5D31-1042AAD805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3353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36180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41643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10FCB0-3E98-968C-B0B2-0287BDB10BE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40839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9609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421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D21FE3-5EC0-4FBE-39B5-E2E1403D8A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6098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2747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934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436C33-A793-DC0C-D886-737105F4E2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8626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398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021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26102-BFD8-FE67-7468-C70F51C79F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5712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8336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2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1BE003-CFF8-4C74-1638-30EECC7CD6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2174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9043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8245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96B257-601E-8103-1EC3-20E0E6D81B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42512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48352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6183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0CD32-26B6-82E9-D3B6-42302AAD5F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6167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2607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8707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7BDF91-A26C-DE79-7FC6-06E1D9AE4B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64012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714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6126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BB2774-81B2-C28B-EB10-691B19DF1C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1475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785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967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BCEDEC-53A6-EEB4-2CEB-D0678ED6D4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2049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80881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2165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28ECBE-2D41-AFAD-BE06-8B27AEDB0E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2409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19673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305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519809-CA9D-1473-773F-D5FCCD3A77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5323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0115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3842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2D20D-7AE4-37AB-4C14-B64AC56EC8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21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59473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7860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68C7A6-9EC5-06EE-1DA0-7229DF6F605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153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34771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29996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C29C5B-DAFA-0FEC-3779-99EF9D0E3F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99640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10801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781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A1C2D1-E5A2-E675-2938-C2D1C5FF68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0607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6796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937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E00DAE-B1D1-4A29-5DD7-6091E9C9856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FDF7B2-D31A-F20C-89ED-80ADFBC034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68A0C1-A565-2443-A3AF-8BA9516F34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1FBFE6-B6EF-4969-0F20-A7B390CB9C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6115E83-2554-AFFF-9315-394E5E7602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iegma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553587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Adelsber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982340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591575090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264036305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408023476" name="Bildplatzhalter 2"/>
          <p:cNvSpPr>
            <a:spLocks noGrp="1"/>
          </p:cNvSpPr>
          <p:nvPr>
            <p:ph type="pic" sz="quarter" idx="14"/>
          </p:nvPr>
        </p:nvSpPr>
        <p:spPr bwMode="auto"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152113337" name="Bildplatzhalter 2"/>
          <p:cNvSpPr>
            <a:spLocks noGrp="1"/>
          </p:cNvSpPr>
          <p:nvPr>
            <p:ph type="pic" sz="quarter" idx="15"/>
          </p:nvPr>
        </p:nvSpPr>
        <p:spPr bwMode="auto"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787511661" name="Bildplatzhalter 4"/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334963" y="5200967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Logo</a:t>
            </a:r>
            <a:endParaRPr/>
          </a:p>
        </p:txBody>
      </p:sp>
      <p:sp>
        <p:nvSpPr>
          <p:cNvPr id="129111198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Glös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456153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816443109" name="Bildplatzhalter 4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Logo</a:t>
            </a:r>
            <a:endParaRPr/>
          </a:p>
        </p:txBody>
      </p:sp>
      <p:sp>
        <p:nvSpPr>
          <p:cNvPr id="1082765462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37026748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Kaßber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8896217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2121347390" name="Bildplatzhalter 2"/>
          <p:cNvSpPr>
            <a:spLocks noGrp="1"/>
          </p:cNvSpPr>
          <p:nvPr>
            <p:ph type="pic" sz="quarter" idx="14"/>
          </p:nvPr>
        </p:nvSpPr>
        <p:spPr bwMode="auto"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976295577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585714652" name="Bildplatzhalter 2"/>
          <p:cNvSpPr>
            <a:spLocks noGrp="1"/>
          </p:cNvSpPr>
          <p:nvPr>
            <p:ph type="pic" sz="quarter" idx="15"/>
          </p:nvPr>
        </p:nvSpPr>
        <p:spPr bwMode="auto">
          <a:xfrm>
            <a:off x="8115300" y="1484313"/>
            <a:ext cx="4076699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386317488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Reichenhai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456282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/>
          </a:p>
        </p:txBody>
      </p:sp>
      <p:sp>
        <p:nvSpPr>
          <p:cNvPr id="17954072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599791089" name="Textplatzhalter 7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ub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18118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05936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/>
          </a:p>
        </p:txBody>
      </p:sp>
      <p:sp>
        <p:nvSpPr>
          <p:cNvPr id="45826072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311285520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870316526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insied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436368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00128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160817394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389768882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451155955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  <p:sp>
        <p:nvSpPr>
          <p:cNvPr id="1947120106" name="Bildplatzhalter 2"/>
          <p:cNvSpPr>
            <a:spLocks noGrp="1"/>
          </p:cNvSpPr>
          <p:nvPr>
            <p:ph type="pic" sz="quarter" idx="15"/>
          </p:nvPr>
        </p:nvSpPr>
        <p:spPr bwMode="auto"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221389607" name="Textplatzhalter 7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Rabenstei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39135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88512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54736903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586505534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078954171" name="Textplatzhalter 7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rfenschla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87674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/>
          </a:p>
        </p:txBody>
      </p:sp>
      <p:sp>
        <p:nvSpPr>
          <p:cNvPr id="974306455" name="Bildplatzhalter 4"/>
          <p:cNvSpPr>
            <a:spLocks noGrp="1"/>
          </p:cNvSpPr>
          <p:nvPr>
            <p:ph type="pic" sz="quarter" idx="12" hasCustomPrompt="1"/>
          </p:nvPr>
        </p:nvSpPr>
        <p:spPr bwMode="auto"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Logo</a:t>
            </a:r>
            <a:endParaRPr/>
          </a:p>
        </p:txBody>
      </p:sp>
      <p:sp>
        <p:nvSpPr>
          <p:cNvPr id="107100152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379931945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Gablenz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88571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/>
          </a:p>
        </p:txBody>
      </p:sp>
      <p:sp>
        <p:nvSpPr>
          <p:cNvPr id="125091863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369607877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562592383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785229918" name="Bildplatzhalter 2"/>
          <p:cNvSpPr>
            <a:spLocks noGrp="1"/>
          </p:cNvSpPr>
          <p:nvPr>
            <p:ph type="pic" sz="quarter" idx="18"/>
          </p:nvPr>
        </p:nvSpPr>
        <p:spPr bwMode="auto"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640089173" name="Textplatzhalter 7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624390093" name="Bildplatzhalter 2"/>
          <p:cNvSpPr>
            <a:spLocks noGrp="1"/>
          </p:cNvSpPr>
          <p:nvPr>
            <p:ph type="pic" sz="quarter" idx="19"/>
          </p:nvPr>
        </p:nvSpPr>
        <p:spPr bwMode="auto"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378914876" name="Textplatzhalter 7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theme" Target="../theme/theme2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842135" name="Rechteck 8"/>
          <p:cNvSpPr/>
          <p:nvPr userDrawn="1"/>
        </p:nvSpPr>
        <p:spPr bwMode="auto"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de-DE"/>
          </a:p>
        </p:txBody>
      </p:sp>
      <p:cxnSp>
        <p:nvCxnSpPr>
          <p:cNvPr id="193000598" name="Gerader Verbinder 13"/>
          <p:cNvCxnSpPr/>
          <p:nvPr userDrawn="1"/>
        </p:nvCxnSpPr>
        <p:spPr bwMode="auto"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30490" name="Gerader Verbinder 9"/>
          <p:cNvCxnSpPr/>
          <p:nvPr userDrawn="1"/>
        </p:nvCxnSpPr>
        <p:spPr bwMode="auto"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7085389" name="Rectangle 4"/>
          <p:cNvSpPr txBox="1">
            <a:spLocks noChangeArrowheads="1"/>
          </p:cNvSpPr>
          <p:nvPr userDrawn="1"/>
        </p:nvSpPr>
        <p:spPr bwMode="auto">
          <a:xfrm flipH="0" flipV="0">
            <a:off x="192088" y="6525344"/>
            <a:ext cx="7568622" cy="33424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>
              <a:defRPr/>
            </a:pPr>
            <a:r>
              <a:rPr lang="de-DE" sz="1400">
                <a:latin typeface="Roboto"/>
                <a:ea typeface="Roboto"/>
              </a:rPr>
              <a:t>Chemnitz</a:t>
            </a:r>
            <a:r>
              <a:rPr lang="de-DE" sz="1400">
                <a:solidFill>
                  <a:schemeClr val="tx1"/>
                </a:solidFill>
                <a:latin typeface="Roboto"/>
                <a:ea typeface="Roboto"/>
                <a:cs typeface="Arial"/>
              </a:rPr>
              <a:t> ∙ 26</a:t>
            </a:r>
            <a:r>
              <a:rPr lang="de-DE" sz="1400">
                <a:latin typeface="Roboto"/>
                <a:ea typeface="Roboto"/>
              </a:rPr>
              <a:t>. </a:t>
            </a:r>
            <a:r>
              <a:rPr lang="de-DE" sz="14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November</a:t>
            </a:r>
            <a:r>
              <a:rPr lang="de-DE" sz="1400">
                <a:latin typeface="Roboto"/>
                <a:ea typeface="Roboto"/>
              </a:rPr>
              <a:t> </a:t>
            </a:r>
            <a:r>
              <a:rPr lang="de-DE" sz="1400">
                <a:latin typeface="Roboto"/>
                <a:ea typeface="Roboto"/>
              </a:rPr>
              <a:t>2025</a:t>
            </a:r>
            <a:r>
              <a:rPr lang="de-DE" sz="1400">
                <a:solidFill>
                  <a:schemeClr val="tx1"/>
                </a:solidFill>
                <a:latin typeface="Roboto"/>
                <a:ea typeface="Roboto"/>
                <a:cs typeface="Arial"/>
              </a:rPr>
              <a:t> ∙ </a:t>
            </a:r>
            <a:r>
              <a:rPr lang="de-DE" sz="14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Sepp Stage, Josias Krahl, Julian Fedas, Vanessa Vorpagel</a:t>
            </a:r>
            <a:endParaRPr/>
          </a:p>
        </p:txBody>
      </p:sp>
      <p:sp>
        <p:nvSpPr>
          <p:cNvPr id="631998909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 algn="r">
              <a:defRPr/>
            </a:pPr>
            <a:r>
              <a:rPr lang="de-DE" sz="1400">
                <a:latin typeface="Roboto"/>
                <a:ea typeface="Roboto"/>
              </a:rPr>
              <a:t>www.tu-chemnitz.de</a:t>
            </a:r>
            <a:endParaRPr/>
          </a:p>
        </p:txBody>
      </p:sp>
      <p:pic>
        <p:nvPicPr>
          <p:cNvPr id="336802870" name="Grafik 2" title="Logo der TU Chemnitz mit Bezug zur Kulturhauptstadt 2025"/>
          <p:cNvPicPr>
            <a:picLocks noChangeAspect="1"/>
          </p:cNvPicPr>
          <p:nvPr userDrawn="1"/>
        </p:nvPicPr>
        <p:blipFill rotWithShape="1">
          <a:blip r:embed="rId6"/>
          <a:stretch/>
        </p:blipFill>
        <p:spPr bwMode="auto"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1" ftr="1" hdr="0" sldNum="1"/>
  <p:txStyles>
    <p:titleStyle>
      <a:lvl1pPr algn="l" rtl="0">
        <a:spcBef>
          <a:spcPts val="0"/>
        </a:spcBef>
        <a:spcAft>
          <a:spcPts val="0"/>
        </a:spcAft>
        <a:defRPr sz="2800" b="0">
          <a:solidFill>
            <a:schemeClr val="bg1"/>
          </a:solidFill>
          <a:latin typeface="Roboto"/>
          <a:ea typeface="Roboto"/>
          <a:cs typeface="+mj-cs"/>
        </a:defRPr>
      </a:lvl1pPr>
      <a:lvl2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2pPr>
      <a:lvl3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3pPr>
      <a:lvl4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4pPr>
      <a:lvl5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5pPr>
      <a:lvl6pPr marL="4572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6pPr>
      <a:lvl7pPr marL="9144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7pPr>
      <a:lvl8pPr marL="13716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8pPr>
      <a:lvl9pPr marL="18288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9pPr>
    </p:titleStyle>
    <p:bodyStyle>
      <a:lvl1pPr marL="342900" indent="-342900" algn="l" rtl="0">
        <a:spcBef>
          <a:spcPts val="0"/>
        </a:spcBef>
        <a:spcAft>
          <a:spcPts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>
        <a:spcBef>
          <a:spcPts val="0"/>
        </a:spcBef>
        <a:spcAft>
          <a:spcPts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>
        <a:spcBef>
          <a:spcPts val="0"/>
        </a:spcBef>
        <a:spcAft>
          <a:spcPts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>
        <a:spcBef>
          <a:spcPts val="0"/>
        </a:spcBef>
        <a:spcAft>
          <a:spcPts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753124" name="Rechteck 8"/>
          <p:cNvSpPr/>
          <p:nvPr userDrawn="1"/>
        </p:nvSpPr>
        <p:spPr bwMode="auto"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de-DE"/>
          </a:p>
        </p:txBody>
      </p:sp>
      <p:cxnSp>
        <p:nvCxnSpPr>
          <p:cNvPr id="1618948822" name="Gerader Verbinder 10"/>
          <p:cNvCxnSpPr/>
          <p:nvPr userDrawn="1"/>
        </p:nvCxnSpPr>
        <p:spPr bwMode="auto">
          <a:xfrm>
            <a:off x="1166867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220284" name="Gerader Verbinder 32"/>
          <p:cNvCxnSpPr/>
          <p:nvPr userDrawn="1"/>
        </p:nvCxnSpPr>
        <p:spPr bwMode="auto"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865971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 algn="r">
              <a:defRPr/>
            </a:pPr>
            <a:r>
              <a:rPr lang="de-DE" sz="1400">
                <a:latin typeface="Roboto"/>
                <a:ea typeface="Roboto"/>
              </a:rPr>
              <a:t>www.tu-chemnitz.de</a:t>
            </a:r>
            <a:endParaRPr/>
          </a:p>
        </p:txBody>
      </p:sp>
      <p:sp>
        <p:nvSpPr>
          <p:cNvPr id="587770209" name="Fußzeilenplatzhalter 4"/>
          <p:cNvSpPr txBox="1"/>
          <p:nvPr userDrawn="1"/>
        </p:nvSpPr>
        <p:spPr bwMode="auto">
          <a:xfrm flipH="0" flipV="0">
            <a:off x="7568463" y="6526932"/>
            <a:ext cx="2680436" cy="332655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  <a:latin typeface="Roboto Condensed"/>
                <a:ea typeface="Roboto Condensed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>
                <a:latin typeface="Roboto"/>
                <a:ea typeface="Roboto"/>
              </a:rPr>
              <a:t>‹Nr.›</a:t>
            </a:fld>
            <a:endParaRPr lang="de-DE" sz="1400">
              <a:latin typeface="Roboto"/>
              <a:ea typeface="Roboto"/>
            </a:endParaRPr>
          </a:p>
        </p:txBody>
      </p:sp>
      <p:sp>
        <p:nvSpPr>
          <p:cNvPr id="1098128344" name="Rectangle 4"/>
          <p:cNvSpPr txBox="1">
            <a:spLocks noChangeArrowheads="1"/>
          </p:cNvSpPr>
          <p:nvPr userDrawn="1"/>
        </p:nvSpPr>
        <p:spPr bwMode="auto">
          <a:xfrm flipH="0" flipV="0">
            <a:off x="192088" y="6525344"/>
            <a:ext cx="7376374" cy="33424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>
              <a:defRPr/>
            </a:pPr>
            <a:r>
              <a:rPr lang="de-DE" sz="14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Chemnitz ∙ 26. November 2025 ∙ Sepp Stage, Josias Krahl, Julian Fedas, Vanessa Vorpagel</a:t>
            </a:r>
            <a:endParaRPr/>
          </a:p>
        </p:txBody>
      </p:sp>
      <p:pic>
        <p:nvPicPr>
          <p:cNvPr id="994205390" name="Grafik 9" title="Logo der TU Chemnitz mit Bezug zur Kulturhauptstadt 2025"/>
          <p:cNvPicPr>
            <a:picLocks noChangeAspect="1"/>
          </p:cNvPicPr>
          <p:nvPr userDrawn="1"/>
        </p:nvPicPr>
        <p:blipFill rotWithShape="1">
          <a:blip r:embed="rId8"/>
          <a:stretch/>
        </p:blipFill>
        <p:spPr bwMode="auto">
          <a:xfrm>
            <a:off x="192089" y="152400"/>
            <a:ext cx="785406" cy="46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1600" b="1">
          <a:solidFill>
            <a:schemeClr val="bg1"/>
          </a:solidFill>
          <a:latin typeface="Roboto"/>
          <a:ea typeface="Roboto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400">
          <a:solidFill>
            <a:schemeClr val="tx1"/>
          </a:solidFill>
          <a:latin typeface="Roboto"/>
          <a:ea typeface="Roboto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Roboto"/>
          <a:ea typeface="Roboto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Roboto"/>
          <a:ea typeface="Roboto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.pn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.pn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9.jp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4370436" name="Titel 1"/>
          <p:cNvSpPr>
            <a:spLocks noGrp="1"/>
          </p:cNvSpPr>
          <p:nvPr>
            <p:ph type="title"/>
          </p:nvPr>
        </p:nvSpPr>
        <p:spPr bwMode="auto">
          <a:xfrm flipH="0" flipV="0">
            <a:off x="2279382" y="266699"/>
            <a:ext cx="9377469" cy="776226"/>
          </a:xfr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/>
          </a:p>
        </p:txBody>
      </p:sp>
      <p:sp>
        <p:nvSpPr>
          <p:cNvPr id="202846068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334962" y="1776094"/>
            <a:ext cx="11556999" cy="44894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Teil 1: Vorestllung der Ergebnisse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17532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1599322518" name="Textplatzhalter 2"/>
          <p:cNvSpPr>
            <a:spLocks noGrp="1"/>
          </p:cNvSpPr>
          <p:nvPr>
            <p:ph type="body" sz="quarter" idx="13"/>
          </p:nvPr>
        </p:nvSpPr>
        <p:spPr bwMode="auto">
          <a:xfrm>
            <a:off x="192087" y="908049"/>
            <a:ext cx="11807824" cy="4078017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de-DE" sz="36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Teil 1 : Vorstellung der Ergebnisse</a:t>
            </a:r>
            <a:endParaRPr lang="de-DE" sz="3600" b="1" i="0" u="none" strike="noStrike" cap="none" spc="0">
              <a:solidFill>
                <a:schemeClr val="tx1"/>
              </a:solidFill>
              <a:latin typeface="Roboto"/>
              <a:cs typeface="Roboto"/>
            </a:endParaRPr>
          </a:p>
          <a:p>
            <a:pPr algn="ctr">
              <a:defRPr/>
            </a:pPr>
            <a:endParaRPr lang="de-DE" sz="3600" b="1" i="0" u="none" strike="noStrike" cap="none" spc="0">
              <a:solidFill>
                <a:schemeClr val="tx1"/>
              </a:solidFill>
              <a:latin typeface="Roboto"/>
              <a:cs typeface="Roboto"/>
            </a:endParaRPr>
          </a:p>
          <a:p>
            <a:pPr algn="ctr">
              <a:defRPr/>
            </a:pPr>
            <a:r>
              <a:rPr lang="de-DE" sz="36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Unser UML Klassendiagramm</a:t>
            </a:r>
            <a:endParaRPr/>
          </a:p>
        </p:txBody>
      </p:sp>
      <p:pic>
        <p:nvPicPr>
          <p:cNvPr id="147730075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07515" y="3429000"/>
            <a:ext cx="4667249" cy="22574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09140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87505391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endParaRPr/>
          </a:p>
        </p:txBody>
      </p:sp>
      <p:pic>
        <p:nvPicPr>
          <p:cNvPr id="170736774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343025" y="1372234"/>
            <a:ext cx="9032062" cy="486260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738049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48919327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531885004" name=""/>
          <p:cNvPicPr>
            <a:picLocks noChangeAspect="1"/>
          </p:cNvPicPr>
          <p:nvPr/>
        </p:nvPicPr>
        <p:blipFill rotWithShape="1">
          <a:blip r:embed="rId3"/>
          <a:srcRect l="48150" t="0" r="0" b="0"/>
          <a:stretch/>
        </p:blipFill>
        <p:spPr bwMode="auto">
          <a:xfrm flipH="0" flipV="0">
            <a:off x="3817956" y="1372234"/>
            <a:ext cx="4683087" cy="486260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965149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82917092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880144532" name=""/>
          <p:cNvPicPr>
            <a:picLocks noChangeAspect="1"/>
          </p:cNvPicPr>
          <p:nvPr/>
        </p:nvPicPr>
        <p:blipFill rotWithShape="1">
          <a:blip r:embed="rId3"/>
          <a:srcRect l="48067" t="48159" r="14650" b="22461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25075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04851206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655524945" name=""/>
          <p:cNvPicPr>
            <a:picLocks noChangeAspect="1"/>
          </p:cNvPicPr>
          <p:nvPr/>
        </p:nvPicPr>
        <p:blipFill rotWithShape="1">
          <a:blip r:embed="rId3"/>
          <a:srcRect l="48557" t="28303" r="27664" b="42317"/>
          <a:stretch/>
        </p:blipFill>
        <p:spPr bwMode="auto">
          <a:xfrm flipH="0" flipV="0">
            <a:off x="2906001" y="1372234"/>
            <a:ext cx="7530935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072782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69405684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903935708" name=""/>
          <p:cNvPicPr>
            <a:picLocks noChangeAspect="1"/>
          </p:cNvPicPr>
          <p:nvPr/>
        </p:nvPicPr>
        <p:blipFill rotWithShape="1">
          <a:blip r:embed="rId3"/>
          <a:srcRect l="48532" t="23834" r="14185" b="46786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10654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19859481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185888061" name=""/>
          <p:cNvPicPr>
            <a:picLocks noChangeAspect="1"/>
          </p:cNvPicPr>
          <p:nvPr/>
        </p:nvPicPr>
        <p:blipFill rotWithShape="1">
          <a:blip r:embed="rId3"/>
          <a:srcRect l="49535" t="37937" r="13182" b="32682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49181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03038737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568043796" name=""/>
          <p:cNvPicPr>
            <a:picLocks noChangeAspect="1"/>
          </p:cNvPicPr>
          <p:nvPr/>
        </p:nvPicPr>
        <p:blipFill rotWithShape="1">
          <a:blip r:embed="rId3"/>
          <a:srcRect l="40985" t="16766" r="0" b="36728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716137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60772886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589589146" name=""/>
          <p:cNvPicPr>
            <a:picLocks noChangeAspect="1"/>
          </p:cNvPicPr>
          <p:nvPr/>
        </p:nvPicPr>
        <p:blipFill rotWithShape="1">
          <a:blip r:embed="rId3"/>
          <a:srcRect l="52742" t="1969" r="15363" b="72896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40711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66581447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152196546" name=""/>
          <p:cNvPicPr>
            <a:picLocks noChangeAspect="1"/>
          </p:cNvPicPr>
          <p:nvPr/>
        </p:nvPicPr>
        <p:blipFill rotWithShape="1">
          <a:blip r:embed="rId3"/>
          <a:srcRect l="67297" t="2328" r="808" b="72537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01345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3668599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402262665" name=""/>
          <p:cNvPicPr>
            <a:picLocks noChangeAspect="1"/>
          </p:cNvPicPr>
          <p:nvPr/>
        </p:nvPicPr>
        <p:blipFill rotWithShape="1">
          <a:blip r:embed="rId3"/>
          <a:srcRect l="52375" t="21785" r="15730" b="53080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75391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2343593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574828115" name=""/>
          <p:cNvPicPr>
            <a:picLocks noChangeAspect="1"/>
          </p:cNvPicPr>
          <p:nvPr/>
        </p:nvPicPr>
        <p:blipFill rotWithShape="1">
          <a:blip r:embed="rId3"/>
          <a:srcRect l="53110" t="5324" r="14995" b="69542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38542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60977727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427884564" name=""/>
          <p:cNvPicPr>
            <a:picLocks noChangeAspect="1"/>
          </p:cNvPicPr>
          <p:nvPr/>
        </p:nvPicPr>
        <p:blipFill rotWithShape="1">
          <a:blip r:embed="rId3"/>
          <a:srcRect l="52816" t="26419" r="15289" b="48446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336441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29245164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888307145" name=""/>
          <p:cNvPicPr>
            <a:picLocks noChangeAspect="1"/>
          </p:cNvPicPr>
          <p:nvPr/>
        </p:nvPicPr>
        <p:blipFill rotWithShape="1">
          <a:blip r:embed="rId3"/>
          <a:srcRect l="47865" t="67285" r="13133" b="1980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43932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73356358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714593566" name=""/>
          <p:cNvPicPr>
            <a:picLocks noChangeAspect="1"/>
          </p:cNvPicPr>
          <p:nvPr/>
        </p:nvPicPr>
        <p:blipFill rotWithShape="1">
          <a:blip r:embed="rId3"/>
          <a:srcRect l="61962" t="62918" r="5557" b="11485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8421527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6722131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r>
              <a:rPr/>
              <a:t> (Frontend)</a:t>
            </a:r>
            <a:endParaRPr/>
          </a:p>
        </p:txBody>
      </p:sp>
      <p:pic>
        <p:nvPicPr>
          <p:cNvPr id="695053450" name=""/>
          <p:cNvPicPr>
            <a:picLocks noChangeAspect="1"/>
          </p:cNvPicPr>
          <p:nvPr/>
        </p:nvPicPr>
        <p:blipFill rotWithShape="1">
          <a:blip r:embed="rId3"/>
          <a:srcRect l="48150" t="0" r="0" b="0"/>
          <a:stretch/>
        </p:blipFill>
        <p:spPr bwMode="auto">
          <a:xfrm flipH="0" flipV="0">
            <a:off x="3817955" y="1372233"/>
            <a:ext cx="4683086" cy="486260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63701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68557987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r>
              <a:rPr/>
              <a:t> (Backend)</a:t>
            </a:r>
            <a:endParaRPr/>
          </a:p>
        </p:txBody>
      </p:sp>
      <p:pic>
        <p:nvPicPr>
          <p:cNvPr id="1265063018" name=""/>
          <p:cNvPicPr>
            <a:picLocks noChangeAspect="1"/>
          </p:cNvPicPr>
          <p:nvPr/>
        </p:nvPicPr>
        <p:blipFill rotWithShape="1">
          <a:blip r:embed="rId3"/>
          <a:srcRect l="-5" t="0" r="52138" b="17154"/>
          <a:stretch/>
        </p:blipFill>
        <p:spPr bwMode="auto">
          <a:xfrm flipH="0" flipV="0">
            <a:off x="3934311" y="1372233"/>
            <a:ext cx="5267813" cy="490845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045592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2132408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r>
              <a:rPr/>
              <a:t> (Backend)</a:t>
            </a:r>
            <a:endParaRPr/>
          </a:p>
        </p:txBody>
      </p:sp>
      <p:pic>
        <p:nvPicPr>
          <p:cNvPr id="1557919098" name=""/>
          <p:cNvPicPr>
            <a:picLocks noChangeAspect="1"/>
          </p:cNvPicPr>
          <p:nvPr/>
        </p:nvPicPr>
        <p:blipFill rotWithShape="1">
          <a:blip r:embed="rId3"/>
          <a:srcRect l="31222" t="64259" r="56624" b="14706"/>
          <a:stretch/>
        </p:blipFill>
        <p:spPr bwMode="auto">
          <a:xfrm flipH="0" flipV="0">
            <a:off x="3934311" y="1372233"/>
            <a:ext cx="5267813" cy="490845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84004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88227324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625227040" name=""/>
          <p:cNvPicPr>
            <a:picLocks noChangeAspect="1"/>
          </p:cNvPicPr>
          <p:nvPr/>
        </p:nvPicPr>
        <p:blipFill rotWithShape="1">
          <a:blip r:embed="rId3"/>
          <a:srcRect l="317" t="7739" r="55972" b="40619"/>
          <a:stretch/>
        </p:blipFill>
        <p:spPr bwMode="auto">
          <a:xfrm flipH="0" flipV="0">
            <a:off x="2157927" y="1372233"/>
            <a:ext cx="7876141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509467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95774106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546338591" name=""/>
          <p:cNvPicPr>
            <a:picLocks noChangeAspect="1"/>
          </p:cNvPicPr>
          <p:nvPr/>
        </p:nvPicPr>
        <p:blipFill rotWithShape="1">
          <a:blip r:embed="rId3"/>
          <a:srcRect l="12471" t="3382" r="55048" b="71021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04146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07987866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570662271" name=""/>
          <p:cNvPicPr>
            <a:picLocks noChangeAspect="1"/>
          </p:cNvPicPr>
          <p:nvPr/>
        </p:nvPicPr>
        <p:blipFill rotWithShape="1">
          <a:blip r:embed="rId3"/>
          <a:srcRect l="-16755" t="11947" r="58120" b="41845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63528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8499490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154674354" name=""/>
          <p:cNvPicPr>
            <a:picLocks noChangeAspect="1"/>
          </p:cNvPicPr>
          <p:nvPr/>
        </p:nvPicPr>
        <p:blipFill rotWithShape="1">
          <a:blip r:embed="rId3"/>
          <a:srcRect l="10289" t="30212" r="50461" b="38857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423057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69808782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45044492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88360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3207569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34882776" name=""/>
          <p:cNvPicPr>
            <a:picLocks noChangeAspect="1"/>
          </p:cNvPicPr>
          <p:nvPr/>
        </p:nvPicPr>
        <p:blipFill rotWithShape="1">
          <a:blip r:embed="rId3"/>
          <a:srcRect l="6321" t="-1272" r="37030" b="44624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892357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96609905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229356970" name=""/>
          <p:cNvPicPr>
            <a:picLocks noChangeAspect="1"/>
          </p:cNvPicPr>
          <p:nvPr/>
        </p:nvPicPr>
        <p:blipFill rotWithShape="1">
          <a:blip r:embed="rId3"/>
          <a:srcRect l="43352" t="-1272" r="0" b="44624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85855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53474469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310004722" name=""/>
          <p:cNvPicPr>
            <a:picLocks noChangeAspect="1"/>
          </p:cNvPicPr>
          <p:nvPr/>
        </p:nvPicPr>
        <p:blipFill rotWithShape="1">
          <a:blip r:embed="rId3"/>
          <a:srcRect l="43352" t="9468" r="0" b="33883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9945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89487554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320890158" name=""/>
          <p:cNvPicPr>
            <a:picLocks noChangeAspect="1"/>
          </p:cNvPicPr>
          <p:nvPr/>
        </p:nvPicPr>
        <p:blipFill rotWithShape="1">
          <a:blip r:embed="rId3"/>
          <a:srcRect l="0" t="9468" r="43352" b="33883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06505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50265795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54929994" name=""/>
          <p:cNvPicPr>
            <a:picLocks noChangeAspect="1"/>
          </p:cNvPicPr>
          <p:nvPr/>
        </p:nvPicPr>
        <p:blipFill rotWithShape="1">
          <a:blip r:embed="rId3"/>
          <a:srcRect l="-438" t="62491" r="81056" b="18127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2739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79189127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95989785" name=""/>
          <p:cNvPicPr>
            <a:picLocks noChangeAspect="1"/>
          </p:cNvPicPr>
          <p:nvPr/>
        </p:nvPicPr>
        <p:blipFill rotWithShape="1">
          <a:blip r:embed="rId3"/>
          <a:srcRect l="42405" t="39785" r="946" b="3566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87093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6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31253906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266650861" name=""/>
          <p:cNvPicPr>
            <a:picLocks noChangeAspect="1"/>
          </p:cNvPicPr>
          <p:nvPr/>
        </p:nvPicPr>
        <p:blipFill rotWithShape="1">
          <a:blip r:embed="rId3"/>
          <a:srcRect l="4112" t="39785" r="39239" b="3566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134799" name="Titelplatzhalter 25"/>
          <p:cNvSpPr>
            <a:spLocks noGrp="1"/>
          </p:cNvSpPr>
          <p:nvPr>
            <p:ph type="title"/>
          </p:nvPr>
        </p:nvSpPr>
        <p:spPr bwMode="auto">
          <a:xfrm>
            <a:off x="2387599" y="314324"/>
            <a:ext cx="9504362" cy="893763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1530844176" name=""/>
          <p:cNvSpPr/>
          <p:nvPr/>
        </p:nvSpPr>
        <p:spPr bwMode="auto">
          <a:xfrm flipH="0" flipV="0">
            <a:off x="10777" y="3168374"/>
            <a:ext cx="12199802" cy="11585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a:r>
              <a:rPr sz="5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Teil 2 : Reflexion</a:t>
            </a:r>
            <a:br>
              <a:rPr sz="5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endParaRPr/>
          </a:p>
        </p:txBody>
      </p:sp>
      <p:pic>
        <p:nvPicPr>
          <p:cNvPr id="158704311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597024" y="2711174"/>
            <a:ext cx="1771650" cy="17716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95204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158324689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Wie sind wir zu den Ergebnissen gekommen?</a:t>
            </a:r>
            <a:endParaRPr/>
          </a:p>
        </p:txBody>
      </p:sp>
      <p:sp>
        <p:nvSpPr>
          <p:cNvPr id="497025852" name=""/>
          <p:cNvSpPr/>
          <p:nvPr/>
        </p:nvSpPr>
        <p:spPr bwMode="auto">
          <a:xfrm>
            <a:off x="5968559" y="3291840"/>
            <a:ext cx="255240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/>
          </a:p>
        </p:txBody>
      </p:sp>
      <p:pic>
        <p:nvPicPr>
          <p:cNvPr id="23745852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16124" y="2793999"/>
            <a:ext cx="2057400" cy="1495424"/>
          </a:xfrm>
          <a:prstGeom prst="rect">
            <a:avLst/>
          </a:prstGeom>
        </p:spPr>
      </p:pic>
      <p:pic>
        <p:nvPicPr>
          <p:cNvPr id="57013098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467529" y="2913062"/>
            <a:ext cx="1257299" cy="1257299"/>
          </a:xfrm>
          <a:prstGeom prst="rect">
            <a:avLst/>
          </a:prstGeom>
        </p:spPr>
      </p:pic>
      <p:pic>
        <p:nvPicPr>
          <p:cNvPr id="17042998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334374" y="2913062"/>
            <a:ext cx="1257299" cy="1257299"/>
          </a:xfrm>
          <a:prstGeom prst="rect">
            <a:avLst/>
          </a:prstGeom>
        </p:spPr>
      </p:pic>
      <p:cxnSp>
        <p:nvCxnSpPr>
          <p:cNvPr id="274642295" name=""/>
          <p:cNvCxnSpPr>
            <a:stCxn id="237458524" idx="3"/>
          </p:cNvCxnSpPr>
          <p:nvPr/>
        </p:nvCxnSpPr>
        <p:spPr bwMode="auto">
          <a:xfrm rot="0" flipH="0" flipV="0">
            <a:off x="4073524" y="3545284"/>
            <a:ext cx="1189849" cy="0"/>
          </a:xfrm>
          <a:prstGeom prst="line">
            <a:avLst/>
          </a:prstGeom>
          <a:ln w="28575" cap="flat" cmpd="sng" algn="ctr">
            <a:solidFill>
              <a:srgbClr val="4D4D4D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594548" name=""/>
          <p:cNvCxnSpPr>
            <a:stCxn id="570130986" idx="3"/>
            <a:endCxn id="170429986" idx="1"/>
          </p:cNvCxnSpPr>
          <p:nvPr/>
        </p:nvCxnSpPr>
        <p:spPr bwMode="auto">
          <a:xfrm rot="0" flipH="0" flipV="0">
            <a:off x="6724829" y="3541712"/>
            <a:ext cx="1609544" cy="0"/>
          </a:xfrm>
          <a:prstGeom prst="line">
            <a:avLst/>
          </a:prstGeom>
          <a:ln w="28575" cap="flat" cmpd="sng" algn="ctr">
            <a:solidFill>
              <a:srgbClr val="4D4D4D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08725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5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5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5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500"/>
          </a:p>
          <a:p>
            <a:pPr>
              <a:defRPr/>
            </a:pPr>
            <a:endParaRPr sz="2500"/>
          </a:p>
          <a:p>
            <a:pPr>
              <a:defRPr/>
            </a:pPr>
            <a:endParaRPr/>
          </a:p>
        </p:txBody>
      </p:sp>
      <p:sp>
        <p:nvSpPr>
          <p:cNvPr id="14340155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Herausforderungen &amp; Probleme</a:t>
            </a:r>
            <a:endParaRPr/>
          </a:p>
        </p:txBody>
      </p:sp>
      <p:pic>
        <p:nvPicPr>
          <p:cNvPr id="36430350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229100" y="1866899"/>
            <a:ext cx="3733799" cy="37337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075765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 sz="2800"/>
          </a:p>
          <a:p>
            <a:pPr>
              <a:defRPr/>
            </a:pPr>
            <a:endParaRPr sz="2800"/>
          </a:p>
          <a:p>
            <a:pPr>
              <a:defRPr/>
            </a:pPr>
            <a:endParaRPr/>
          </a:p>
        </p:txBody>
      </p:sp>
      <p:sp>
        <p:nvSpPr>
          <p:cNvPr id="89795591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Feedback</a:t>
            </a:r>
            <a:endParaRPr/>
          </a:p>
        </p:txBody>
      </p:sp>
      <p:pic>
        <p:nvPicPr>
          <p:cNvPr id="8757645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66875" y="1836419"/>
            <a:ext cx="8858250" cy="3876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ONLYOFFICE/9.1.0.167</Application>
  <PresentationFormat>On-screen Show (4:3)</PresentationFormat>
  <Paragraphs>0</Paragraphs>
  <Slides>35</Slides>
  <Notes>35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37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Manager/>
  <Company>TU Chemnitz</Company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Meilenstein: Design</dc:title>
  <dc:subject/>
  <dc:creator>Sepp Stage;Josias Krahl;Julian Fedas;Vanessa Vorpagel</dc:creator>
  <cp:keywords/>
  <dc:description/>
  <cp:lastModifiedBy/>
  <cp:revision>3</cp:revision>
  <dcterms:created xsi:type="dcterms:W3CDTF">2022-09-28T06:36:00Z</dcterms:created>
  <dcterms:modified xsi:type="dcterms:W3CDTF">2025-11-22T20:04:42Z</dcterms:modified>
  <cp:category>Corporate Design der TU Chemnitz</cp:category>
</cp:coreProperties>
</file>