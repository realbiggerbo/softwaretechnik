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6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34.xml" ContentType="application/vnd.openxmlformats-officedocument.presentationml.notesSlide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notesSlides/notesSlide3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3.xml" ContentType="application/vnd.openxmlformats-officedocument.theme+xml"/>
  <Override PartName="/ppt/notesSlides/notesSlide31.xml" ContentType="application/vnd.openxmlformats-officedocument.presentationml.notesSlide+xml"/>
  <Override PartName="/ppt/notesSlides/notesSlide28.xml" ContentType="application/vnd.openxmlformats-officedocument.presentationml.notesSlide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29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howSpecialPlsOnTitleSld="0">
  <p:sldMasterIdLst>
    <p:sldMasterId id="2147483648" r:id="rId1"/>
    <p:sldMasterId id="2147483653" r:id="rId2"/>
  </p:sldMasterIdLst>
  <p:notesMasterIdLst>
    <p:notesMasterId r:id="rId40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x="12192000" cy="6858000"/>
  <p:notesSz cx="9928225" cy="6797675"/>
  <p:defaultTextStyle>
    <a:defPPr>
      <a:defRPr lang="de-DE"/>
    </a:defPPr>
    <a:lvl1pPr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1pPr>
    <a:lvl2pPr marL="4572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2pPr>
    <a:lvl3pPr marL="9144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3pPr>
    <a:lvl4pPr marL="13716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4pPr>
    <a:lvl5pPr marL="18288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5pPr>
    <a:lvl6pPr marL="2286000" algn="l" defTabSz="914400" rtl="0">
      <a:defRPr>
        <a:solidFill>
          <a:schemeClr val="tx1"/>
        </a:solidFill>
        <a:latin typeface="Arial"/>
        <a:ea typeface="+mn-ea"/>
        <a:cs typeface="Arial"/>
      </a:defRPr>
    </a:lvl6pPr>
    <a:lvl7pPr marL="2743200" algn="l" defTabSz="914400" rtl="0">
      <a:defRPr>
        <a:solidFill>
          <a:schemeClr val="tx1"/>
        </a:solidFill>
        <a:latin typeface="Arial"/>
        <a:ea typeface="+mn-ea"/>
        <a:cs typeface="Arial"/>
      </a:defRPr>
    </a:lvl7pPr>
    <a:lvl8pPr marL="3200400" algn="l" defTabSz="914400" rtl="0">
      <a:defRPr>
        <a:solidFill>
          <a:schemeClr val="tx1"/>
        </a:solidFill>
        <a:latin typeface="Arial"/>
        <a:ea typeface="+mn-ea"/>
        <a:cs typeface="Arial"/>
      </a:defRPr>
    </a:lvl8pPr>
    <a:lvl9pPr marL="3657600" algn="l" defTabSz="914400" rtl="0">
      <a:defRPr>
        <a:solidFill>
          <a:schemeClr val="tx1"/>
        </a:solidFill>
        <a:latin typeface="Arial"/>
        <a:ea typeface="+mn-ea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20" d="100"/>
          <a:sy n="120" d="100"/>
        </p:scale>
        <p:origin x="120" y="3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 /><Relationship Id="rId42" Type="http://schemas.openxmlformats.org/officeDocument/2006/relationships/tableStyles" Target="tableStyles.xml" /><Relationship Id="rId4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409059" name="Rectangle 2"/>
          <p:cNvSpPr>
            <a:spLocks noChangeArrowheads="1" noGrp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>
            <a:lvl1pPr algn="l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720603" name="Rectangle 3"/>
          <p:cNvSpPr>
            <a:spLocks noChangeArrowheads="1" noGrp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>
            <a:lvl1pPr algn="r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81438289" name="Rectangle 4"/>
          <p:cNvSpPr>
            <a:spLocks noChangeArrowheads="1" noChangeAspect="1" noGrp="1" noRot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101590183" name="Rectangle 5"/>
          <p:cNvSpPr>
            <a:spLocks noChangeArrowheads="1" noGrp="1"/>
          </p:cNvSpPr>
          <p:nvPr>
            <p:ph type="body" sz="quarter" idx="3"/>
          </p:nvPr>
        </p:nvSpPr>
        <p:spPr bwMode="auto">
          <a:xfrm>
            <a:off x="992360" y="3228190"/>
            <a:ext cx="7943508" cy="305971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Textmasterformate durch Klicken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134636813" name="Rectangle 6"/>
          <p:cNvSpPr>
            <a:spLocks noChangeArrowheads="1" noGrp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b" anchorCtr="0" compatLnSpc="1">
            <a:prstTxWarp prst="textNoShape"/>
          </a:bodyPr>
          <a:lstStyle>
            <a:lvl1pPr algn="l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3525197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b" anchorCtr="0" compatLnSpc="1">
            <a:prstTxWarp prst="textNoShape"/>
          </a:bodyPr>
          <a:lstStyle>
            <a:lvl1pPr algn="r">
              <a:defRPr sz="1200"/>
            </a:lvl1pPr>
          </a:lstStyle>
          <a:p>
            <a:pPr>
              <a:defRPr/>
            </a:pPr>
            <a:fld id="{5EB2B633-7BEC-49A7-B3BF-92E0C7E450E6}" type="slidenum">
              <a:rPr lang="de-DE"/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1pPr>
    <a:lvl2pPr marL="4572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2pPr>
    <a:lvl3pPr marL="9144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3pPr>
    <a:lvl4pPr marL="13716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4pPr>
    <a:lvl5pPr marL="18288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946828" name="Folienbildplatzhalt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2867203" name="Notizenplatzhalt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341743418" name="Foliennummernplatzhalt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5EB2B633-7BEC-49A7-B3BF-92E0C7E450E6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6396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80967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2922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C52BDD-6E07-A921-BE07-B3AA5F7256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3066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6423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505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4566AF-2467-8643-6028-CB8D2C56AA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831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2087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362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AC8061-9E72-9C5A-30CE-45D425BA29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6868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1093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56453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09F55-63CA-D4B3-B056-F57F916715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9979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8289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297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3BAECC-4784-02B8-EAF1-EC6BA4BC91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9928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62380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20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E7979-0E94-38B9-BEE9-966FEC3C9E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7324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2719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6691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66D569-23EF-220D-C7DD-40D032336F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3668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727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0174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D47ACF-6C0C-ED66-C3BC-99C529977E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99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05796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27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72706B-BE10-888A-D3E5-9D63BBF515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17981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954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9380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4E0BC-9DC7-8295-D71D-21892C22D3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0704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90067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362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624C27-0253-1845-42F5-498E0D0FDF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27953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9999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200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9E14B6-0629-C3B8-4CF5-D445F31575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2718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7602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1044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D6460B-2C88-82D2-5D31-1042AAD805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27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31600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76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10FCB0-3E98-968C-B0B2-0287BDB10BE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8156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511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3874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D21FE3-5EC0-4FBE-39B5-E2E1403D8A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659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8453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2411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436C33-A793-DC0C-D886-737105F4E2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1177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67975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3434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26102-BFD8-FE67-7468-C70F51C79F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6646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7032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657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1BE003-CFF8-4C74-1638-30EECC7CD6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0172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356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970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0CD32-26B6-82E9-D3B6-42302AAD5F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3446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8180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0916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7BDF91-A26C-DE79-7FC6-06E1D9AE4B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063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10824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512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BB2774-81B2-C28B-EB10-691B19DF1C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556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0831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09605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BCEDEC-53A6-EEB4-2CEB-D0678ED6D4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1901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2459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2483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28ECBE-2D41-AFAD-BE06-8B27AEDB0E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248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5970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556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519809-CA9D-1473-773F-D5FCCD3A77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2730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49838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319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2D20D-7AE4-37AB-4C14-B64AC56EC8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0223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2505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635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8A30B6-D98F-71E8-3090-12D87762F2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8643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5105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888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90FC9F-4CCD-68BD-CA4C-4C2882B93F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2608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33113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4515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1807E7-AAC3-8D50-7B7C-77C4A0A5F1E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3230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7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2757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FDF7B2-D31A-F20C-89ED-80ADFBC034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0955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307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406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68A0C1-A565-2443-A3AF-8BA9516F34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840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3911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3286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1FBFE6-B6EF-4969-0F20-A7B390CB9C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55321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6390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4763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6115E83-2554-AFFF-9315-394E5E7602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1973ADF-4C80-A23C-CD53-7BA5969F54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iegma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977595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Adelsber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96516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613030172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985899875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2127997667" name="Bildplatzhalter 2"/>
          <p:cNvSpPr>
            <a:spLocks noGrp="1"/>
          </p:cNvSpPr>
          <p:nvPr>
            <p:ph type="pic" sz="quarter" idx="14"/>
          </p:nvPr>
        </p:nvSpPr>
        <p:spPr bwMode="auto"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030934261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4179753" name="Bildplatzhalter 4"/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334963" y="5200967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1032862780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Glös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190458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217874115" name="Bildplatzhalter 4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1953073824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898020307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Kaßber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499537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2027688606" name="Bildplatzhalter 2"/>
          <p:cNvSpPr>
            <a:spLocks noGrp="1"/>
          </p:cNvSpPr>
          <p:nvPr>
            <p:ph type="pic" sz="quarter" idx="14"/>
          </p:nvPr>
        </p:nvSpPr>
        <p:spPr bwMode="auto"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2068956513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71073358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8115300" y="1484313"/>
            <a:ext cx="4076699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081539112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Reichenhai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187192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sp>
        <p:nvSpPr>
          <p:cNvPr id="24617977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316139454" name="Textplatzhalter 7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ub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59918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05936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sp>
        <p:nvSpPr>
          <p:cNvPr id="110714882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917540452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2018067510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insied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662263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00128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3354067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460799450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698572443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1906996071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214527808" name="Textplatzhalter 7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Rabenstei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58412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88512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27631625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604846507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2044199128" name="Textplatzhalter 7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rfenschla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000665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/>
          </a:p>
        </p:txBody>
      </p:sp>
      <p:sp>
        <p:nvSpPr>
          <p:cNvPr id="1434969600" name="Bildplatzhalter 4"/>
          <p:cNvSpPr>
            <a:spLocks noGrp="1"/>
          </p:cNvSpPr>
          <p:nvPr>
            <p:ph type="pic" sz="quarter" idx="12" hasCustomPrompt="1"/>
          </p:nvPr>
        </p:nvSpPr>
        <p:spPr bwMode="auto"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11845777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870245416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Gablenz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45608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/>
          </a:p>
        </p:txBody>
      </p:sp>
      <p:sp>
        <p:nvSpPr>
          <p:cNvPr id="131340871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787496432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257369805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927158875" name="Bildplatzhalter 2"/>
          <p:cNvSpPr>
            <a:spLocks noGrp="1"/>
          </p:cNvSpPr>
          <p:nvPr>
            <p:ph type="pic" sz="quarter" idx="18"/>
          </p:nvPr>
        </p:nvSpPr>
        <p:spPr bwMode="auto"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937118579" name="Textplatzhalter 7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81996550" name="Bildplatzhalter 2"/>
          <p:cNvSpPr>
            <a:spLocks noGrp="1"/>
          </p:cNvSpPr>
          <p:nvPr>
            <p:ph type="pic" sz="quarter" idx="19"/>
          </p:nvPr>
        </p:nvSpPr>
        <p:spPr bwMode="auto"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51999817" name="Textplatzhalter 7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theme" Target="../theme/theme2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312664" name="Rechteck 8"/>
          <p:cNvSpPr/>
          <p:nvPr userDrawn="1"/>
        </p:nvSpPr>
        <p:spPr bwMode="auto"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DE"/>
          </a:p>
        </p:txBody>
      </p:sp>
      <p:cxnSp>
        <p:nvCxnSpPr>
          <p:cNvPr id="2119509207" name="Gerader Verbinder 13"/>
          <p:cNvCxnSpPr/>
          <p:nvPr userDrawn="1"/>
        </p:nvCxnSpPr>
        <p:spPr bwMode="auto"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335131" name="Gerader Verbinder 9"/>
          <p:cNvCxnSpPr/>
          <p:nvPr userDrawn="1"/>
        </p:nvCxnSpPr>
        <p:spPr bwMode="auto"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059912" name="Rectangle 4"/>
          <p:cNvSpPr txBox="1">
            <a:spLocks noChangeArrowheads="1"/>
          </p:cNvSpPr>
          <p:nvPr userDrawn="1"/>
        </p:nvSpPr>
        <p:spPr bwMode="auto">
          <a:xfrm flipH="0" flipV="0">
            <a:off x="192088" y="6525344"/>
            <a:ext cx="7568622" cy="3342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>
              <a:defRPr/>
            </a:pPr>
            <a:r>
              <a:rPr lang="de-DE" sz="1400">
                <a:latin typeface="Roboto"/>
                <a:ea typeface="Roboto"/>
              </a:rPr>
              <a:t>Chemnitz</a:t>
            </a:r>
            <a:r>
              <a:rPr lang="de-DE" sz="1400">
                <a:solidFill>
                  <a:schemeClr val="tx1"/>
                </a:solidFill>
                <a:latin typeface="Roboto"/>
                <a:ea typeface="Roboto"/>
                <a:cs typeface="Arial"/>
              </a:rPr>
              <a:t> ∙ 26</a:t>
            </a:r>
            <a:r>
              <a:rPr lang="de-DE" sz="1400">
                <a:latin typeface="Roboto"/>
                <a:ea typeface="Roboto"/>
              </a:rPr>
              <a:t>. </a:t>
            </a: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November</a:t>
            </a:r>
            <a:r>
              <a:rPr lang="de-DE" sz="1400">
                <a:latin typeface="Roboto"/>
                <a:ea typeface="Roboto"/>
              </a:rPr>
              <a:t> </a:t>
            </a:r>
            <a:r>
              <a:rPr lang="de-DE" sz="1400">
                <a:latin typeface="Roboto"/>
                <a:ea typeface="Roboto"/>
              </a:rPr>
              <a:t>2025</a:t>
            </a:r>
            <a:r>
              <a:rPr lang="de-DE" sz="1400">
                <a:solidFill>
                  <a:schemeClr val="tx1"/>
                </a:solidFill>
                <a:latin typeface="Roboto"/>
                <a:ea typeface="Roboto"/>
                <a:cs typeface="Arial"/>
              </a:rPr>
              <a:t> ∙ </a:t>
            </a: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Sepp Stage, Josias Krahl, Julian Fedas, Vanessa Vorpagel</a:t>
            </a:r>
            <a:endParaRPr/>
          </a:p>
        </p:txBody>
      </p:sp>
      <p:sp>
        <p:nvSpPr>
          <p:cNvPr id="568639123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r">
              <a:defRPr/>
            </a:pPr>
            <a:r>
              <a:rPr lang="de-DE" sz="1400">
                <a:latin typeface="Roboto"/>
                <a:ea typeface="Roboto"/>
              </a:rPr>
              <a:t>www.tu-chemnitz.de</a:t>
            </a:r>
            <a:endParaRPr/>
          </a:p>
        </p:txBody>
      </p:sp>
      <p:pic>
        <p:nvPicPr>
          <p:cNvPr id="1897094723" name="Grafik 2" title="Logo der TU Chemnitz mit Bezug zur Kulturhauptstadt 2025"/>
          <p:cNvPicPr>
            <a:picLocks noChangeAspect="1"/>
          </p:cNvPicPr>
          <p:nvPr userDrawn="1"/>
        </p:nvPicPr>
        <p:blipFill rotWithShape="1">
          <a:blip r:embed="rId6"/>
          <a:stretch/>
        </p:blipFill>
        <p:spPr bwMode="auto"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1" ftr="1" hdr="0" sldNum="1"/>
  <p:txStyles>
    <p:titleStyle>
      <a:lvl1pPr algn="l" rtl="0">
        <a:spcBef>
          <a:spcPts val="0"/>
        </a:spcBef>
        <a:spcAft>
          <a:spcPts val="0"/>
        </a:spcAft>
        <a:defRPr sz="2800" b="0">
          <a:solidFill>
            <a:schemeClr val="bg1"/>
          </a:solidFill>
          <a:latin typeface="Roboto"/>
          <a:ea typeface="Roboto"/>
          <a:cs typeface="+mj-cs"/>
        </a:defRPr>
      </a:lvl1pPr>
      <a:lvl2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2pPr>
      <a:lvl3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3pPr>
      <a:lvl4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4pPr>
      <a:lvl5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5pPr>
      <a:lvl6pPr marL="4572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6pPr>
      <a:lvl7pPr marL="9144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7pPr>
      <a:lvl8pPr marL="13716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8pPr>
      <a:lvl9pPr marL="18288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9pPr>
    </p:titleStyle>
    <p:bodyStyle>
      <a:lvl1pPr marL="342900" indent="-342900" algn="l" rtl="0">
        <a:spcBef>
          <a:spcPts val="0"/>
        </a:spcBef>
        <a:spcAft>
          <a:spcPts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>
        <a:spcBef>
          <a:spcPts val="0"/>
        </a:spcBef>
        <a:spcAft>
          <a:spcPts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>
        <a:spcBef>
          <a:spcPts val="0"/>
        </a:spcBef>
        <a:spcAft>
          <a:spcPts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>
        <a:spcBef>
          <a:spcPts val="0"/>
        </a:spcBef>
        <a:spcAft>
          <a:spcPts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42938" name="Rechteck 8"/>
          <p:cNvSpPr/>
          <p:nvPr userDrawn="1"/>
        </p:nvSpPr>
        <p:spPr bwMode="auto"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DE"/>
          </a:p>
        </p:txBody>
      </p:sp>
      <p:cxnSp>
        <p:nvCxnSpPr>
          <p:cNvPr id="1404704192" name="Gerader Verbinder 10"/>
          <p:cNvCxnSpPr/>
          <p:nvPr userDrawn="1"/>
        </p:nvCxnSpPr>
        <p:spPr bwMode="auto">
          <a:xfrm>
            <a:off x="1166867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2988845" name="Gerader Verbinder 32"/>
          <p:cNvCxnSpPr/>
          <p:nvPr userDrawn="1"/>
        </p:nvCxnSpPr>
        <p:spPr bwMode="auto"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7331142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r">
              <a:defRPr/>
            </a:pPr>
            <a:r>
              <a:rPr lang="de-DE" sz="1400">
                <a:latin typeface="Roboto"/>
                <a:ea typeface="Roboto"/>
              </a:rPr>
              <a:t>www.tu-chemnitz.de</a:t>
            </a:r>
            <a:endParaRPr/>
          </a:p>
        </p:txBody>
      </p:sp>
      <p:sp>
        <p:nvSpPr>
          <p:cNvPr id="226192612" name="Fußzeilenplatzhalter 4"/>
          <p:cNvSpPr txBox="1"/>
          <p:nvPr userDrawn="1"/>
        </p:nvSpPr>
        <p:spPr bwMode="auto">
          <a:xfrm flipH="0" flipV="0">
            <a:off x="7568463" y="6526932"/>
            <a:ext cx="2680436" cy="332655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  <a:latin typeface="Roboto Condensed"/>
                <a:ea typeface="Roboto Condensed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>
                <a:latin typeface="Roboto"/>
                <a:ea typeface="Roboto"/>
              </a:rPr>
              <a:t>‹Nr.›</a:t>
            </a:fld>
            <a:endParaRPr lang="de-DE" sz="1400">
              <a:latin typeface="Roboto"/>
              <a:ea typeface="Roboto"/>
            </a:endParaRPr>
          </a:p>
        </p:txBody>
      </p:sp>
      <p:sp>
        <p:nvSpPr>
          <p:cNvPr id="86860798" name="Rectangle 4"/>
          <p:cNvSpPr txBox="1">
            <a:spLocks noChangeArrowheads="1"/>
          </p:cNvSpPr>
          <p:nvPr userDrawn="1"/>
        </p:nvSpPr>
        <p:spPr bwMode="auto">
          <a:xfrm flipH="0" flipV="0">
            <a:off x="192088" y="6525344"/>
            <a:ext cx="7376374" cy="3342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>
              <a:defRPr/>
            </a:pP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Chemnitz ∙ 26. November 2025 ∙ Sepp Stage, Josias Krahl, Julian Fedas, Vanessa Vorpagel</a:t>
            </a:r>
            <a:endParaRPr/>
          </a:p>
        </p:txBody>
      </p:sp>
      <p:pic>
        <p:nvPicPr>
          <p:cNvPr id="1399040799" name="Grafik 9" title="Logo der TU Chemnitz mit Bezug zur Kulturhauptstadt 2025"/>
          <p:cNvPicPr>
            <a:picLocks noChangeAspect="1"/>
          </p:cNvPicPr>
          <p:nvPr userDrawn="1"/>
        </p:nvPicPr>
        <p:blipFill rotWithShape="1">
          <a:blip r:embed="rId8"/>
          <a:stretch/>
        </p:blipFill>
        <p:spPr bwMode="auto">
          <a:xfrm>
            <a:off x="192089" y="152400"/>
            <a:ext cx="785406" cy="46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1600" b="1">
          <a:solidFill>
            <a:schemeClr val="bg1"/>
          </a:solidFill>
          <a:latin typeface="Roboto"/>
          <a:ea typeface="Roboto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Roboto"/>
          <a:ea typeface="Roboto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Roboto"/>
          <a:ea typeface="Roboto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Roboto"/>
          <a:ea typeface="Roboto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0.jpg"/><Relationship Id="rId4" Type="http://schemas.openxmlformats.org/officeDocument/2006/relationships/image" Target="../media/image11.png"/><Relationship Id="rId5" Type="http://schemas.openxmlformats.org/officeDocument/2006/relationships/image" Target="../media/image12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3.jp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577917" name="Titel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pic>
        <p:nvPicPr>
          <p:cNvPr id="15996783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99376" y="1693333"/>
            <a:ext cx="9193247" cy="44873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75865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1441695405" name="Textplatzhalter 2"/>
          <p:cNvSpPr>
            <a:spLocks noGrp="1"/>
          </p:cNvSpPr>
          <p:nvPr>
            <p:ph type="body" sz="quarter" idx="13"/>
          </p:nvPr>
        </p:nvSpPr>
        <p:spPr bwMode="auto">
          <a:xfrm>
            <a:off x="192087" y="908049"/>
            <a:ext cx="11807824" cy="407801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de-DE" sz="36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Teil 1 : Vorstellung der Ergebnisse</a:t>
            </a:r>
            <a:endParaRPr lang="de-DE" sz="3600" b="1" i="0" u="none" strike="noStrike" cap="none" spc="0">
              <a:solidFill>
                <a:schemeClr val="tx1"/>
              </a:solidFill>
              <a:latin typeface="Roboto"/>
              <a:cs typeface="Roboto"/>
            </a:endParaRPr>
          </a:p>
          <a:p>
            <a:pPr algn="ctr">
              <a:defRPr/>
            </a:pPr>
            <a:endParaRPr lang="de-DE" sz="3600" b="1" i="0" u="none" strike="noStrike" cap="none" spc="0">
              <a:solidFill>
                <a:schemeClr val="tx1"/>
              </a:solidFill>
              <a:latin typeface="Roboto"/>
              <a:cs typeface="Roboto"/>
            </a:endParaRPr>
          </a:p>
          <a:p>
            <a:pPr algn="ctr">
              <a:defRPr/>
            </a:pPr>
            <a:r>
              <a:rPr lang="de-DE" sz="36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Unser UML Klassendiagramm</a:t>
            </a:r>
            <a:endParaRPr/>
          </a:p>
        </p:txBody>
      </p:sp>
      <p:pic>
        <p:nvPicPr>
          <p:cNvPr id="204076572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07515" y="3429000"/>
            <a:ext cx="4667249" cy="22574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81627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08981745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endParaRPr/>
          </a:p>
        </p:txBody>
      </p:sp>
      <p:pic>
        <p:nvPicPr>
          <p:cNvPr id="27230919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43025" y="1372234"/>
            <a:ext cx="9032062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69680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71749951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126170253" name=""/>
          <p:cNvPicPr>
            <a:picLocks noChangeAspect="1"/>
          </p:cNvPicPr>
          <p:nvPr/>
        </p:nvPicPr>
        <p:blipFill rotWithShape="1">
          <a:blip r:embed="rId3"/>
          <a:srcRect l="48150" t="0" r="0" b="0"/>
          <a:stretch/>
        </p:blipFill>
        <p:spPr bwMode="auto">
          <a:xfrm flipH="0" flipV="0">
            <a:off x="3817956" y="1372234"/>
            <a:ext cx="4683087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9474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2686454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870379235" name=""/>
          <p:cNvPicPr>
            <a:picLocks noChangeAspect="1"/>
          </p:cNvPicPr>
          <p:nvPr/>
        </p:nvPicPr>
        <p:blipFill rotWithShape="1">
          <a:blip r:embed="rId3"/>
          <a:srcRect l="48067" t="48159" r="14650" b="22461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67934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90770297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200752243" name=""/>
          <p:cNvPicPr>
            <a:picLocks noChangeAspect="1"/>
          </p:cNvPicPr>
          <p:nvPr/>
        </p:nvPicPr>
        <p:blipFill rotWithShape="1">
          <a:blip r:embed="rId3"/>
          <a:srcRect l="48557" t="28303" r="27664" b="42317"/>
          <a:stretch/>
        </p:blipFill>
        <p:spPr bwMode="auto">
          <a:xfrm flipH="0" flipV="0">
            <a:off x="2906001" y="1372234"/>
            <a:ext cx="7530935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068190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0486917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59682201" name=""/>
          <p:cNvPicPr>
            <a:picLocks noChangeAspect="1"/>
          </p:cNvPicPr>
          <p:nvPr/>
        </p:nvPicPr>
        <p:blipFill rotWithShape="1">
          <a:blip r:embed="rId3"/>
          <a:srcRect l="48532" t="23834" r="14185" b="46786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58064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54086208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2076338856" name=""/>
          <p:cNvPicPr>
            <a:picLocks noChangeAspect="1"/>
          </p:cNvPicPr>
          <p:nvPr/>
        </p:nvPicPr>
        <p:blipFill rotWithShape="1">
          <a:blip r:embed="rId3"/>
          <a:srcRect l="49535" t="37937" r="13182" b="32682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52259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813558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558060934" name=""/>
          <p:cNvPicPr>
            <a:picLocks noChangeAspect="1"/>
          </p:cNvPicPr>
          <p:nvPr/>
        </p:nvPicPr>
        <p:blipFill rotWithShape="1">
          <a:blip r:embed="rId3"/>
          <a:srcRect l="40985" t="16766" r="0" b="36728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67686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29170923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659167558" name=""/>
          <p:cNvPicPr>
            <a:picLocks noChangeAspect="1"/>
          </p:cNvPicPr>
          <p:nvPr/>
        </p:nvPicPr>
        <p:blipFill rotWithShape="1">
          <a:blip r:embed="rId3"/>
          <a:srcRect l="52742" t="1969" r="15363" b="72896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51998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91890578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70950359" name=""/>
          <p:cNvPicPr>
            <a:picLocks noChangeAspect="1"/>
          </p:cNvPicPr>
          <p:nvPr/>
        </p:nvPicPr>
        <p:blipFill rotWithShape="1">
          <a:blip r:embed="rId3"/>
          <a:srcRect l="67297" t="2328" r="808" b="72537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42097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38624833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04054721" name=""/>
          <p:cNvPicPr>
            <a:picLocks noChangeAspect="1"/>
          </p:cNvPicPr>
          <p:nvPr/>
        </p:nvPicPr>
        <p:blipFill rotWithShape="1">
          <a:blip r:embed="rId3"/>
          <a:srcRect l="52375" t="21785" r="15730" b="53080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766201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890379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23700387" name=""/>
          <p:cNvPicPr>
            <a:picLocks noChangeAspect="1"/>
          </p:cNvPicPr>
          <p:nvPr/>
        </p:nvPicPr>
        <p:blipFill rotWithShape="1">
          <a:blip r:embed="rId3"/>
          <a:srcRect l="53110" t="5324" r="14995" b="69542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22091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85309959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59160213" name=""/>
          <p:cNvPicPr>
            <a:picLocks noChangeAspect="1"/>
          </p:cNvPicPr>
          <p:nvPr/>
        </p:nvPicPr>
        <p:blipFill rotWithShape="1">
          <a:blip r:embed="rId3"/>
          <a:srcRect l="52816" t="26419" r="15289" b="48446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52917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7056006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510208165" name=""/>
          <p:cNvPicPr>
            <a:picLocks noChangeAspect="1"/>
          </p:cNvPicPr>
          <p:nvPr/>
        </p:nvPicPr>
        <p:blipFill rotWithShape="1">
          <a:blip r:embed="rId3"/>
          <a:srcRect l="47865" t="67285" r="13132" b="1980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90831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86945984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457202707" name=""/>
          <p:cNvPicPr>
            <a:picLocks noChangeAspect="1"/>
          </p:cNvPicPr>
          <p:nvPr/>
        </p:nvPicPr>
        <p:blipFill rotWithShape="1">
          <a:blip r:embed="rId3"/>
          <a:srcRect l="61962" t="62918" r="5557" b="11485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36804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7356367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(Frontend)</a:t>
            </a:r>
            <a:endParaRPr/>
          </a:p>
        </p:txBody>
      </p:sp>
      <p:pic>
        <p:nvPicPr>
          <p:cNvPr id="1110179814" name=""/>
          <p:cNvPicPr>
            <a:picLocks noChangeAspect="1"/>
          </p:cNvPicPr>
          <p:nvPr/>
        </p:nvPicPr>
        <p:blipFill rotWithShape="1">
          <a:blip r:embed="rId3"/>
          <a:srcRect l="48150" t="0" r="0" b="0"/>
          <a:stretch/>
        </p:blipFill>
        <p:spPr bwMode="auto">
          <a:xfrm flipH="0" flipV="0">
            <a:off x="3817955" y="1372233"/>
            <a:ext cx="4683086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74284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77008793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(Backend)</a:t>
            </a:r>
            <a:endParaRPr/>
          </a:p>
        </p:txBody>
      </p:sp>
      <p:pic>
        <p:nvPicPr>
          <p:cNvPr id="468706884" name=""/>
          <p:cNvPicPr>
            <a:picLocks noChangeAspect="1"/>
          </p:cNvPicPr>
          <p:nvPr/>
        </p:nvPicPr>
        <p:blipFill rotWithShape="1">
          <a:blip r:embed="rId3"/>
          <a:srcRect l="-5" t="0" r="52138" b="17152"/>
          <a:stretch/>
        </p:blipFill>
        <p:spPr bwMode="auto">
          <a:xfrm flipH="0" flipV="0">
            <a:off x="3934311" y="1372233"/>
            <a:ext cx="5267813" cy="490845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935755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37092567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(Backend)</a:t>
            </a:r>
            <a:endParaRPr/>
          </a:p>
        </p:txBody>
      </p:sp>
      <p:pic>
        <p:nvPicPr>
          <p:cNvPr id="56917908" name=""/>
          <p:cNvPicPr>
            <a:picLocks noChangeAspect="1"/>
          </p:cNvPicPr>
          <p:nvPr/>
        </p:nvPicPr>
        <p:blipFill rotWithShape="1">
          <a:blip r:embed="rId3"/>
          <a:srcRect l="31222" t="64259" r="56624" b="14706"/>
          <a:stretch/>
        </p:blipFill>
        <p:spPr bwMode="auto">
          <a:xfrm flipH="0" flipV="0">
            <a:off x="3934311" y="1372233"/>
            <a:ext cx="5267813" cy="490845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85623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34651153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365132229" name=""/>
          <p:cNvPicPr>
            <a:picLocks noChangeAspect="1"/>
          </p:cNvPicPr>
          <p:nvPr/>
        </p:nvPicPr>
        <p:blipFill rotWithShape="1">
          <a:blip r:embed="rId3"/>
          <a:srcRect l="12471" t="3382" r="55048" b="71021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808958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45657612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941573006" name=""/>
          <p:cNvPicPr>
            <a:picLocks noChangeAspect="1"/>
          </p:cNvPicPr>
          <p:nvPr/>
        </p:nvPicPr>
        <p:blipFill rotWithShape="1">
          <a:blip r:embed="rId3"/>
          <a:srcRect l="-16755" t="11947" r="58120" b="41845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94356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82380522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717042813" name=""/>
          <p:cNvPicPr>
            <a:picLocks noChangeAspect="1"/>
          </p:cNvPicPr>
          <p:nvPr/>
        </p:nvPicPr>
        <p:blipFill rotWithShape="1">
          <a:blip r:embed="rId3"/>
          <a:srcRect l="10289" t="30212" r="50461" b="38857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811203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70736404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16447721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06949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00215700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558944691" name=""/>
          <p:cNvPicPr>
            <a:picLocks noChangeAspect="1"/>
          </p:cNvPicPr>
          <p:nvPr/>
        </p:nvPicPr>
        <p:blipFill rotWithShape="1">
          <a:blip r:embed="rId3"/>
          <a:srcRect l="6321" t="-1272" r="37030" b="44624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11187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11728750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836710594" name=""/>
          <p:cNvPicPr>
            <a:picLocks noChangeAspect="1"/>
          </p:cNvPicPr>
          <p:nvPr/>
        </p:nvPicPr>
        <p:blipFill rotWithShape="1">
          <a:blip r:embed="rId3"/>
          <a:srcRect l="43352" t="-1272" r="0" b="44624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4801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98491274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713986649" name=""/>
          <p:cNvPicPr>
            <a:picLocks noChangeAspect="1"/>
          </p:cNvPicPr>
          <p:nvPr/>
        </p:nvPicPr>
        <p:blipFill rotWithShape="1">
          <a:blip r:embed="rId3"/>
          <a:srcRect l="43352" t="14782" r="0" b="33883"/>
          <a:stretch/>
        </p:blipFill>
        <p:spPr bwMode="auto">
          <a:xfrm flipH="0" flipV="0">
            <a:off x="192085" y="1836415"/>
            <a:ext cx="11807823" cy="4483628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  <p:pic>
        <p:nvPicPr>
          <p:cNvPr id="2043815772" name=""/>
          <p:cNvPicPr>
            <a:picLocks noChangeAspect="1"/>
          </p:cNvPicPr>
          <p:nvPr/>
        </p:nvPicPr>
        <p:blipFill rotWithShape="1">
          <a:blip r:embed="rId3"/>
          <a:srcRect l="43352" t="5184" r="0" b="88797"/>
          <a:stretch/>
        </p:blipFill>
        <p:spPr bwMode="auto">
          <a:xfrm flipH="0" flipV="0">
            <a:off x="192085" y="1310866"/>
            <a:ext cx="11807823" cy="525549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34818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4" cy="46831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05699142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7"/>
            <a:ext cx="11807822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173889420" name=""/>
          <p:cNvPicPr>
            <a:picLocks noChangeAspect="1"/>
          </p:cNvPicPr>
          <p:nvPr/>
        </p:nvPicPr>
        <p:blipFill rotWithShape="1">
          <a:blip r:embed="rId3"/>
          <a:srcRect l="0" t="14783" r="43352" b="33881"/>
          <a:stretch/>
        </p:blipFill>
        <p:spPr bwMode="auto">
          <a:xfrm flipH="0" flipV="0">
            <a:off x="192084" y="1836415"/>
            <a:ext cx="11807823" cy="4483627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  <p:pic>
        <p:nvPicPr>
          <p:cNvPr id="2114018464" name=""/>
          <p:cNvPicPr>
            <a:picLocks noChangeAspect="1"/>
          </p:cNvPicPr>
          <p:nvPr/>
        </p:nvPicPr>
        <p:blipFill rotWithShape="1">
          <a:blip r:embed="rId3"/>
          <a:srcRect l="0" t="4613" r="43352" b="89367"/>
          <a:stretch/>
        </p:blipFill>
        <p:spPr bwMode="auto">
          <a:xfrm flipH="0" flipV="0">
            <a:off x="192084" y="1310865"/>
            <a:ext cx="11807823" cy="525548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08979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4" cy="46831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75854248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7"/>
            <a:ext cx="11807822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462646812" name=""/>
          <p:cNvPicPr>
            <a:picLocks noChangeAspect="1"/>
          </p:cNvPicPr>
          <p:nvPr/>
        </p:nvPicPr>
        <p:blipFill rotWithShape="1">
          <a:blip r:embed="rId3"/>
          <a:srcRect l="43352" t="48665" r="0" b="0"/>
          <a:stretch/>
        </p:blipFill>
        <p:spPr bwMode="auto">
          <a:xfrm flipH="0" flipV="0">
            <a:off x="192084" y="1836415"/>
            <a:ext cx="11807823" cy="4483627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  <p:pic>
        <p:nvPicPr>
          <p:cNvPr id="1718140220" name=""/>
          <p:cNvPicPr>
            <a:picLocks noChangeAspect="1"/>
          </p:cNvPicPr>
          <p:nvPr/>
        </p:nvPicPr>
        <p:blipFill rotWithShape="1">
          <a:blip r:embed="rId3"/>
          <a:srcRect l="43352" t="5184" r="0" b="88797"/>
          <a:stretch/>
        </p:blipFill>
        <p:spPr bwMode="auto">
          <a:xfrm flipH="0" flipV="0">
            <a:off x="192084" y="1310865"/>
            <a:ext cx="11807823" cy="525548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79574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4" cy="46831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81125159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7"/>
            <a:ext cx="11807822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360580149" name=""/>
          <p:cNvPicPr>
            <a:picLocks noChangeAspect="1"/>
          </p:cNvPicPr>
          <p:nvPr/>
        </p:nvPicPr>
        <p:blipFill rotWithShape="1">
          <a:blip r:embed="rId3"/>
          <a:srcRect l="0" t="48664" r="43352" b="0"/>
          <a:stretch/>
        </p:blipFill>
        <p:spPr bwMode="auto">
          <a:xfrm flipH="0" flipV="0">
            <a:off x="192084" y="1836415"/>
            <a:ext cx="11807823" cy="4483627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  <p:pic>
        <p:nvPicPr>
          <p:cNvPr id="323142129" name=""/>
          <p:cNvPicPr>
            <a:picLocks noChangeAspect="1"/>
          </p:cNvPicPr>
          <p:nvPr/>
        </p:nvPicPr>
        <p:blipFill rotWithShape="1">
          <a:blip r:embed="rId3"/>
          <a:srcRect l="0" t="4613" r="43352" b="89367"/>
          <a:stretch/>
        </p:blipFill>
        <p:spPr bwMode="auto">
          <a:xfrm flipH="0" flipV="0">
            <a:off x="192084" y="1310865"/>
            <a:ext cx="11807823" cy="525548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2545169" name="Titelplatzhalter 25"/>
          <p:cNvSpPr>
            <a:spLocks noGrp="1"/>
          </p:cNvSpPr>
          <p:nvPr>
            <p:ph type="title"/>
          </p:nvPr>
        </p:nvSpPr>
        <p:spPr bwMode="auto">
          <a:xfrm>
            <a:off x="2387599" y="314324"/>
            <a:ext cx="9504362" cy="89376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773734043" name=""/>
          <p:cNvSpPr/>
          <p:nvPr/>
        </p:nvSpPr>
        <p:spPr bwMode="auto">
          <a:xfrm flipH="0" flipV="0">
            <a:off x="10777" y="3168374"/>
            <a:ext cx="12199802" cy="11585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r>
              <a:rPr sz="5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Teil 2 : Reflexion</a:t>
            </a:r>
            <a:br>
              <a:rPr sz="5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endParaRPr/>
          </a:p>
        </p:txBody>
      </p:sp>
      <p:pic>
        <p:nvPicPr>
          <p:cNvPr id="117090098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597024" y="2711174"/>
            <a:ext cx="1771650" cy="17716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0765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3868257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Wie sind wir zu den Ergebnissen gekommen?</a:t>
            </a:r>
            <a:endParaRPr/>
          </a:p>
        </p:txBody>
      </p:sp>
      <p:sp>
        <p:nvSpPr>
          <p:cNvPr id="1255097653" name=""/>
          <p:cNvSpPr/>
          <p:nvPr/>
        </p:nvSpPr>
        <p:spPr bwMode="auto">
          <a:xfrm>
            <a:off x="5968559" y="3291840"/>
            <a:ext cx="255240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</p:txBody>
      </p:sp>
      <p:pic>
        <p:nvPicPr>
          <p:cNvPr id="4776417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16124" y="2793999"/>
            <a:ext cx="2057400" cy="1495424"/>
          </a:xfrm>
          <a:prstGeom prst="rect">
            <a:avLst/>
          </a:prstGeom>
        </p:spPr>
      </p:pic>
      <p:pic>
        <p:nvPicPr>
          <p:cNvPr id="109833362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467529" y="2913062"/>
            <a:ext cx="1257299" cy="1257299"/>
          </a:xfrm>
          <a:prstGeom prst="rect">
            <a:avLst/>
          </a:prstGeom>
        </p:spPr>
      </p:pic>
      <p:pic>
        <p:nvPicPr>
          <p:cNvPr id="113265263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334374" y="2913062"/>
            <a:ext cx="1257299" cy="1257299"/>
          </a:xfrm>
          <a:prstGeom prst="rect">
            <a:avLst/>
          </a:prstGeom>
        </p:spPr>
      </p:pic>
      <p:cxnSp>
        <p:nvCxnSpPr>
          <p:cNvPr id="1418953224" name=""/>
          <p:cNvCxnSpPr>
            <a:stCxn id="47764178" idx="3"/>
          </p:cNvCxnSpPr>
          <p:nvPr/>
        </p:nvCxnSpPr>
        <p:spPr bwMode="auto">
          <a:xfrm rot="0" flipH="0" flipV="0">
            <a:off x="4073524" y="3545284"/>
            <a:ext cx="1189849" cy="0"/>
          </a:xfrm>
          <a:prstGeom prst="line">
            <a:avLst/>
          </a:prstGeom>
          <a:ln w="28575" cap="flat" cmpd="sng" algn="ctr">
            <a:solidFill>
              <a:srgbClr val="4D4D4D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664478" name=""/>
          <p:cNvCxnSpPr>
            <a:stCxn id="1098333621" idx="3"/>
            <a:endCxn id="1132652639" idx="1"/>
          </p:cNvCxnSpPr>
          <p:nvPr/>
        </p:nvCxnSpPr>
        <p:spPr bwMode="auto">
          <a:xfrm rot="0" flipH="0" flipV="0">
            <a:off x="6724828" y="3541712"/>
            <a:ext cx="1609544" cy="0"/>
          </a:xfrm>
          <a:prstGeom prst="line">
            <a:avLst/>
          </a:prstGeom>
          <a:ln w="28575" cap="flat" cmpd="sng" algn="ctr">
            <a:solidFill>
              <a:srgbClr val="4D4D4D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11077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500"/>
          </a:p>
          <a:p>
            <a:pPr>
              <a:defRPr/>
            </a:pPr>
            <a:endParaRPr sz="2500"/>
          </a:p>
          <a:p>
            <a:pPr>
              <a:defRPr/>
            </a:pPr>
            <a:endParaRPr/>
          </a:p>
        </p:txBody>
      </p:sp>
      <p:sp>
        <p:nvSpPr>
          <p:cNvPr id="14253789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Herausforderungen &amp; Probleme</a:t>
            </a:r>
            <a:endParaRPr/>
          </a:p>
        </p:txBody>
      </p:sp>
      <p:pic>
        <p:nvPicPr>
          <p:cNvPr id="167457906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29100" y="1866899"/>
            <a:ext cx="3733799" cy="3733799"/>
          </a:xfrm>
          <a:prstGeom prst="rect">
            <a:avLst/>
          </a:prstGeom>
        </p:spPr>
      </p:pic>
      <p:pic>
        <p:nvPicPr>
          <p:cNvPr id="12191087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87904" y="2614451"/>
            <a:ext cx="3641195" cy="2035449"/>
          </a:xfrm>
          <a:prstGeom prst="rect">
            <a:avLst/>
          </a:prstGeom>
        </p:spPr>
      </p:pic>
      <p:pic>
        <p:nvPicPr>
          <p:cNvPr id="31899993" name=""/>
          <p:cNvPicPr>
            <a:picLocks noChangeAspect="1"/>
          </p:cNvPicPr>
          <p:nvPr/>
        </p:nvPicPr>
        <p:blipFill rotWithShape="1">
          <a:blip r:embed="rId5"/>
          <a:srcRect l="0" t="14542" r="50165" b="0"/>
          <a:stretch/>
        </p:blipFill>
        <p:spPr bwMode="auto">
          <a:xfrm flipH="0" flipV="0">
            <a:off x="8259231" y="2074333"/>
            <a:ext cx="3328323" cy="3115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910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19108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19108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99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8999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8999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08608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/>
          </a:p>
        </p:txBody>
      </p:sp>
      <p:sp>
        <p:nvSpPr>
          <p:cNvPr id="12062289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Feedback</a:t>
            </a:r>
            <a:endParaRPr/>
          </a:p>
        </p:txBody>
      </p:sp>
      <p:pic>
        <p:nvPicPr>
          <p:cNvPr id="58817663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66875" y="1836419"/>
            <a:ext cx="8858250" cy="3876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751979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/>
          </a:p>
        </p:txBody>
      </p:sp>
      <p:pic>
        <p:nvPicPr>
          <p:cNvPr id="163491604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215444" y="1312333"/>
            <a:ext cx="7761110" cy="42333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ONLYOFFICE/9.1.0.173</Application>
  <PresentationFormat>On-screen Show (4:3)</PresentationFormat>
  <Paragraphs>0</Paragraphs>
  <Slides>34</Slides>
  <Notes>34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36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Manager/>
  <Company>TU Chemnitz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Meilenstein: Design</dc:title>
  <dc:subject/>
  <dc:creator>Sepp Stage;Josias Krahl;Julian Fedas;Vanessa Vorpagel</dc:creator>
  <cp:keywords/>
  <dc:description/>
  <cp:lastModifiedBy/>
  <cp:revision>8</cp:revision>
  <dcterms:created xsi:type="dcterms:W3CDTF">2022-09-28T06:36:00Z</dcterms:created>
  <dcterms:modified xsi:type="dcterms:W3CDTF">2025-11-26T10:54:07Z</dcterms:modified>
  <cp:category>Corporate Design der TU Chemnitz</cp:category>
</cp:coreProperties>
</file>