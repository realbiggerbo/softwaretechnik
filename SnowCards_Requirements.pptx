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48" r:id="rId1"/>
    <p:sldMasterId id="2147483653" r:id="rId3"/>
  </p:sldMasterIdLst>
  <p:notesMasterIdLst>
    <p:notesMasterId r:id="rId5"/>
  </p:notesMasterIdLst>
  <p:handoutMasterIdLst>
    <p:handoutMasterId r:id="rId33"/>
  </p:handoutMasterIdLst>
  <p:sldIdLst>
    <p:sldId id="309" r:id="rId4"/>
    <p:sldId id="311" r:id="rId6"/>
    <p:sldId id="314" r:id="rId7"/>
    <p:sldId id="316" r:id="rId8"/>
    <p:sldId id="317" r:id="rId9"/>
    <p:sldId id="318" r:id="rId10"/>
    <p:sldId id="319" r:id="rId11"/>
    <p:sldId id="315" r:id="rId12"/>
    <p:sldId id="320" r:id="rId13"/>
    <p:sldId id="331" r:id="rId14"/>
    <p:sldId id="323" r:id="rId15"/>
    <p:sldId id="321" r:id="rId16"/>
    <p:sldId id="328" r:id="rId17"/>
    <p:sldId id="324" r:id="rId18"/>
    <p:sldId id="325" r:id="rId19"/>
    <p:sldId id="326" r:id="rId20"/>
    <p:sldId id="327" r:id="rId21"/>
    <p:sldId id="329" r:id="rId22"/>
    <p:sldId id="330" r:id="rId23"/>
    <p:sldId id="332" r:id="rId24"/>
    <p:sldId id="333" r:id="rId25"/>
    <p:sldId id="334" r:id="rId26"/>
    <p:sldId id="335" r:id="rId27"/>
    <p:sldId id="337" r:id="rId28"/>
    <p:sldId id="341" r:id="rId29"/>
    <p:sldId id="338" r:id="rId30"/>
    <p:sldId id="340" r:id="rId31"/>
    <p:sldId id="344" r:id="rId32"/>
  </p:sldIdLst>
  <p:sldSz cx="12192000" cy="6858000"/>
  <p:notesSz cx="9928225" cy="6797675"/>
  <p:embeddedFontLst>
    <p:embeddedFont>
      <p:font typeface="Roboto" panose="02000000000000000000" pitchFamily="2" charset="0"/>
      <p:regular r:id="rId37"/>
      <p:bold r:id="rId38"/>
      <p:italic r:id="rId39"/>
      <p:boldItalic r:id="rId40"/>
    </p:embeddedFont>
    <p:embeddedFont>
      <p:font typeface="Calibri" panose="020F0502020204030204" charset="0"/>
      <p:regular r:id="rId41"/>
      <p:bold r:id="rId42"/>
      <p:italic r:id="rId43"/>
      <p:boldItalic r:id="rId44"/>
    </p:embeddedFont>
  </p:embeddedFontLst>
  <p:defaultTextStyle>
    <a:defPPr>
      <a:defRPr lang="de-DE"/>
    </a:defPPr>
    <a:lvl1pPr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F50"/>
    <a:srgbClr val="707070"/>
    <a:srgbClr val="006F5F"/>
    <a:srgbClr val="003E2F"/>
    <a:srgbClr val="E4B402"/>
    <a:srgbClr val="FFD800"/>
    <a:srgbClr val="009EE3"/>
    <a:srgbClr val="51AE32"/>
    <a:srgbClr val="779A2B"/>
    <a:srgbClr val="003E7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7679" autoAdjust="0"/>
    <p:restoredTop sz="97526" autoAdjust="0"/>
  </p:normalViewPr>
  <p:slideViewPr>
    <p:cSldViewPr snapToGrid="0">
      <p:cViewPr varScale="1">
        <p:scale>
          <a:sx n="127" d="100"/>
          <a:sy n="127" d="100"/>
        </p:scale>
        <p:origin x="1040" y="176"/>
      </p:cViewPr>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notesViewPr>
    <p:cSldViewPr snapToGrid="0">
      <p:cViewPr varScale="1">
        <p:scale>
          <a:sx n="73" d="100"/>
          <a:sy n="73" d="100"/>
        </p:scale>
        <p:origin x="-2430" y="-96"/>
      </p:cViewPr>
      <p:guideLst>
        <p:guide orient="horz" pos="2142"/>
        <p:guide pos="3130"/>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4" Type="http://schemas.openxmlformats.org/officeDocument/2006/relationships/font" Target="fonts/font8.fntdata"/><Relationship Id="rId43" Type="http://schemas.openxmlformats.org/officeDocument/2006/relationships/font" Target="fonts/font7.fntdata"/><Relationship Id="rId42" Type="http://schemas.openxmlformats.org/officeDocument/2006/relationships/font" Target="fonts/font6.fntdata"/><Relationship Id="rId41" Type="http://schemas.openxmlformats.org/officeDocument/2006/relationships/font" Target="fonts/font5.fntdata"/><Relationship Id="rId40" Type="http://schemas.openxmlformats.org/officeDocument/2006/relationships/font" Target="fonts/font4.fntdata"/><Relationship Id="rId4" Type="http://schemas.openxmlformats.org/officeDocument/2006/relationships/slide" Target="slides/slide1.xml"/><Relationship Id="rId39" Type="http://schemas.openxmlformats.org/officeDocument/2006/relationships/font" Target="fonts/font3.fntdata"/><Relationship Id="rId38" Type="http://schemas.openxmlformats.org/officeDocument/2006/relationships/font" Target="fonts/font2.fntdata"/><Relationship Id="rId37" Type="http://schemas.openxmlformats.org/officeDocument/2006/relationships/font" Target="fonts/font1.fntdata"/><Relationship Id="rId36" Type="http://schemas.openxmlformats.org/officeDocument/2006/relationships/tableStyles" Target="tableStyles.xml"/><Relationship Id="rId35" Type="http://schemas.openxmlformats.org/officeDocument/2006/relationships/viewProps" Target="viewProps.xml"/><Relationship Id="rId34" Type="http://schemas.openxmlformats.org/officeDocument/2006/relationships/presProps" Target="presProps.xml"/><Relationship Id="rId33" Type="http://schemas.openxmlformats.org/officeDocument/2006/relationships/handoutMaster" Target="handoutMasters/handoutMaster1.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4303314" cy="340265"/>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sz="quarter" idx="1"/>
          </p:nvPr>
        </p:nvSpPr>
        <p:spPr>
          <a:xfrm>
            <a:off x="5622594" y="0"/>
            <a:ext cx="4303314" cy="340265"/>
          </a:xfrm>
          <a:prstGeom prst="rect">
            <a:avLst/>
          </a:prstGeom>
        </p:spPr>
        <p:txBody>
          <a:bodyPr vert="horz" lIns="91440" tIns="45720" rIns="91440" bIns="45720" rtlCol="0"/>
          <a:lstStyle>
            <a:lvl1pPr algn="r">
              <a:defRPr sz="1200"/>
            </a:lvl1pPr>
          </a:lstStyle>
          <a:p>
            <a:fld id="{283A9E21-4981-413F-9BAB-A1BE42E0A624}" type="datetimeFigureOut">
              <a:rPr lang="de-DE" smtClean="0"/>
            </a:fld>
            <a:endParaRPr lang="de-DE"/>
          </a:p>
        </p:txBody>
      </p:sp>
      <p:sp>
        <p:nvSpPr>
          <p:cNvPr id="4" name="Fußzeilenplatzhalter 3"/>
          <p:cNvSpPr>
            <a:spLocks noGrp="1"/>
          </p:cNvSpPr>
          <p:nvPr>
            <p:ph type="ftr" sz="quarter" idx="2"/>
          </p:nvPr>
        </p:nvSpPr>
        <p:spPr>
          <a:xfrm>
            <a:off x="0" y="6457410"/>
            <a:ext cx="4303314" cy="340265"/>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p:cNvSpPr>
            <a:spLocks noGrp="1"/>
          </p:cNvSpPr>
          <p:nvPr>
            <p:ph type="sldNum" sz="quarter" idx="3"/>
          </p:nvPr>
        </p:nvSpPr>
        <p:spPr>
          <a:xfrm>
            <a:off x="5622594" y="6457410"/>
            <a:ext cx="4303314" cy="340265"/>
          </a:xfrm>
          <a:prstGeom prst="rect">
            <a:avLst/>
          </a:prstGeom>
        </p:spPr>
        <p:txBody>
          <a:bodyPr vert="horz" lIns="91440" tIns="45720" rIns="91440" bIns="45720" rtlCol="0" anchor="b"/>
          <a:lstStyle>
            <a:lvl1pPr algn="r">
              <a:defRPr sz="1200"/>
            </a:lvl1pPr>
          </a:lstStyle>
          <a:p>
            <a:fld id="{B01872BD-D2C1-4FAA-A740-0001980793A7}" type="slidenum">
              <a:rPr lang="de-DE" smtClean="0"/>
            </a:fld>
            <a:endParaRPr lang="de-DE"/>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8066" name="Rectangle 2"/>
          <p:cNvSpPr>
            <a:spLocks noGrp="1" noChangeArrowheads="1"/>
          </p:cNvSpPr>
          <p:nvPr>
            <p:ph type="hdr" sz="quarter"/>
          </p:nvPr>
        </p:nvSpPr>
        <p:spPr bwMode="auto">
          <a:xfrm>
            <a:off x="0" y="0"/>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lstStyle>
            <a:lvl1pPr algn="l">
              <a:defRPr sz="1200">
                <a:latin typeface="Arial" panose="020B0604020202020204" pitchFamily="34" charset="0"/>
                <a:cs typeface="+mn-cs"/>
              </a:defRPr>
            </a:lvl1pPr>
          </a:lstStyle>
          <a:p>
            <a:pPr>
              <a:defRPr/>
            </a:pPr>
            <a:endParaRPr lang="de-DE"/>
          </a:p>
        </p:txBody>
      </p:sp>
      <p:sp>
        <p:nvSpPr>
          <p:cNvPr id="88067" name="Rectangle 3"/>
          <p:cNvSpPr>
            <a:spLocks noGrp="1" noChangeArrowheads="1"/>
          </p:cNvSpPr>
          <p:nvPr>
            <p:ph type="dt" idx="1"/>
          </p:nvPr>
        </p:nvSpPr>
        <p:spPr bwMode="auto">
          <a:xfrm>
            <a:off x="5622594" y="0"/>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lstStyle>
            <a:lvl1pPr algn="r">
              <a:defRPr sz="1200">
                <a:latin typeface="Arial" panose="020B0604020202020204" pitchFamily="34" charset="0"/>
                <a:cs typeface="+mn-cs"/>
              </a:defRPr>
            </a:lvl1pPr>
          </a:lstStyle>
          <a:p>
            <a:pPr>
              <a:defRPr/>
            </a:pPr>
            <a:endParaRPr lang="de-DE"/>
          </a:p>
        </p:txBody>
      </p:sp>
      <p:sp>
        <p:nvSpPr>
          <p:cNvPr id="27652" name="Rectangle 4"/>
          <p:cNvSpPr>
            <a:spLocks noGrp="1" noRot="1" noChangeAspect="1" noChangeArrowheads="1" noTextEdit="1"/>
          </p:cNvSpPr>
          <p:nvPr>
            <p:ph type="sldImg" idx="2"/>
          </p:nvPr>
        </p:nvSpPr>
        <p:spPr bwMode="auto">
          <a:xfrm>
            <a:off x="2698750" y="509588"/>
            <a:ext cx="4530725" cy="2549525"/>
          </a:xfrm>
          <a:prstGeom prst="rect">
            <a:avLst/>
          </a:prstGeom>
          <a:noFill/>
          <a:ln w="9525">
            <a:solidFill>
              <a:srgbClr val="000000"/>
            </a:solidFill>
            <a:miter lim="800000"/>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88069" name="Rectangle 5"/>
          <p:cNvSpPr>
            <a:spLocks noGrp="1" noChangeArrowheads="1"/>
          </p:cNvSpPr>
          <p:nvPr>
            <p:ph type="body" sz="quarter" idx="3"/>
          </p:nvPr>
        </p:nvSpPr>
        <p:spPr bwMode="auto">
          <a:xfrm>
            <a:off x="992360" y="3228190"/>
            <a:ext cx="7943508" cy="30597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lstStyle/>
          <a:p>
            <a:pPr lvl="0"/>
            <a:r>
              <a:rPr lang="de-DE" noProof="0"/>
              <a:t>Textmasterformate durch Klicken bearbeiten</a:t>
            </a:r>
            <a:endParaRPr lang="de-DE" noProof="0"/>
          </a:p>
          <a:p>
            <a:pPr lvl="1"/>
            <a:r>
              <a:rPr lang="de-DE" noProof="0"/>
              <a:t>Zweite Ebene</a:t>
            </a:r>
            <a:endParaRPr lang="de-DE" noProof="0"/>
          </a:p>
          <a:p>
            <a:pPr lvl="2"/>
            <a:r>
              <a:rPr lang="de-DE" noProof="0"/>
              <a:t>Dritte Ebene</a:t>
            </a:r>
            <a:endParaRPr lang="de-DE" noProof="0"/>
          </a:p>
          <a:p>
            <a:pPr lvl="3"/>
            <a:r>
              <a:rPr lang="de-DE" noProof="0"/>
              <a:t>Vierte Ebene</a:t>
            </a:r>
            <a:endParaRPr lang="de-DE" noProof="0"/>
          </a:p>
          <a:p>
            <a:pPr lvl="4"/>
            <a:r>
              <a:rPr lang="de-DE" noProof="0"/>
              <a:t>Fünfte Ebene</a:t>
            </a:r>
            <a:endParaRPr lang="de-DE" noProof="0"/>
          </a:p>
        </p:txBody>
      </p:sp>
      <p:sp>
        <p:nvSpPr>
          <p:cNvPr id="88070" name="Rectangle 6"/>
          <p:cNvSpPr>
            <a:spLocks noGrp="1" noChangeArrowheads="1"/>
          </p:cNvSpPr>
          <p:nvPr>
            <p:ph type="ftr" sz="quarter" idx="4"/>
          </p:nvPr>
        </p:nvSpPr>
        <p:spPr bwMode="auto">
          <a:xfrm>
            <a:off x="0" y="6456379"/>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b" anchorCtr="0" compatLnSpc="1"/>
          <a:lstStyle>
            <a:lvl1pPr algn="l">
              <a:defRPr sz="1200">
                <a:latin typeface="Arial" panose="020B0604020202020204" pitchFamily="34" charset="0"/>
                <a:cs typeface="+mn-cs"/>
              </a:defRPr>
            </a:lvl1pPr>
          </a:lstStyle>
          <a:p>
            <a:pPr>
              <a:defRPr/>
            </a:pPr>
            <a:endParaRPr lang="de-DE"/>
          </a:p>
        </p:txBody>
      </p:sp>
      <p:sp>
        <p:nvSpPr>
          <p:cNvPr id="88071" name="Rectangle 7"/>
          <p:cNvSpPr>
            <a:spLocks noGrp="1" noChangeArrowheads="1"/>
          </p:cNvSpPr>
          <p:nvPr>
            <p:ph type="sldNum" sz="quarter" idx="5"/>
          </p:nvPr>
        </p:nvSpPr>
        <p:spPr bwMode="auto">
          <a:xfrm>
            <a:off x="5622594" y="6456379"/>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b" anchorCtr="0" compatLnSpc="1"/>
          <a:lstStyle>
            <a:lvl1pPr algn="r">
              <a:defRPr sz="1200"/>
            </a:lvl1pPr>
          </a:lstStyle>
          <a:p>
            <a:fld id="{5EB2B633-7BEC-49A7-B3BF-92E0C7E450E6}" type="slidenum">
              <a:rPr lang="de-DE" altLang="de-DE"/>
            </a:fld>
            <a:endParaRPr lang="de-DE" altLang="de-DE"/>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iegmar">
    <p:spTree>
      <p:nvGrpSpPr>
        <p:cNvPr id="1" name=""/>
        <p:cNvGrpSpPr/>
        <p:nvPr/>
      </p:nvGrpSpPr>
      <p:grpSpPr>
        <a:xfrm>
          <a:off x="0" y="0"/>
          <a:ext cx="0" cy="0"/>
          <a:chOff x="0" y="0"/>
          <a:chExt cx="0" cy="0"/>
        </a:xfrm>
      </p:grpSpPr>
      <p:sp>
        <p:nvSpPr>
          <p:cNvPr id="8" name="Titelplatzhalter 25"/>
          <p:cNvSpPr>
            <a:spLocks noGrp="1"/>
          </p:cNvSpPr>
          <p:nvPr>
            <p:ph type="title" hasCustomPrompt="1"/>
          </p:nvPr>
        </p:nvSpPr>
        <p:spPr>
          <a:xfrm>
            <a:off x="2387600" y="266700"/>
            <a:ext cx="9504363"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13" name="Textplatzhalter 7"/>
          <p:cNvSpPr>
            <a:spLocks noGrp="1"/>
          </p:cNvSpPr>
          <p:nvPr>
            <p:ph type="body" sz="quarter" idx="13" hasCustomPrompt="1"/>
          </p:nvPr>
        </p:nvSpPr>
        <p:spPr>
          <a:xfrm>
            <a:off x="334963" y="1776095"/>
            <a:ext cx="11557000" cy="448945"/>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endParaRPr lang="de-DE"/>
          </a:p>
        </p:txBody>
      </p:sp>
      <p:sp>
        <p:nvSpPr>
          <p:cNvPr id="14" name="Bildplatzhalter 2"/>
          <p:cNvSpPr>
            <a:spLocks noGrp="1"/>
          </p:cNvSpPr>
          <p:nvPr>
            <p:ph type="pic" sz="quarter" idx="10"/>
          </p:nvPr>
        </p:nvSpPr>
        <p:spPr>
          <a:xfrm>
            <a:off x="0" y="2420938"/>
            <a:ext cx="12192000" cy="4096740"/>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delsberg">
    <p:spTree>
      <p:nvGrpSpPr>
        <p:cNvPr id="1" name=""/>
        <p:cNvGrpSpPr/>
        <p:nvPr/>
      </p:nvGrpSpPr>
      <p:grpSpPr>
        <a:xfrm>
          <a:off x="0" y="0"/>
          <a:ext cx="0" cy="0"/>
          <a:chOff x="0" y="0"/>
          <a:chExt cx="0" cy="0"/>
        </a:xfrm>
      </p:grpSpPr>
      <p:sp>
        <p:nvSpPr>
          <p:cNvPr id="8" name="Titelplatzhalter 25"/>
          <p:cNvSpPr>
            <a:spLocks noGrp="1"/>
          </p:cNvSpPr>
          <p:nvPr>
            <p:ph type="title" hasCustomPrompt="1"/>
          </p:nvPr>
        </p:nvSpPr>
        <p:spPr>
          <a:xfrm>
            <a:off x="2387600" y="266700"/>
            <a:ext cx="9504362"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13" name="Textplatzhalter 7"/>
          <p:cNvSpPr>
            <a:spLocks noGrp="1"/>
          </p:cNvSpPr>
          <p:nvPr>
            <p:ph type="body" sz="quarter" idx="13" hasCustomPrompt="1"/>
          </p:nvPr>
        </p:nvSpPr>
        <p:spPr>
          <a:xfrm>
            <a:off x="334963" y="1776095"/>
            <a:ext cx="11557000" cy="448945"/>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endParaRPr lang="de-DE"/>
          </a:p>
        </p:txBody>
      </p:sp>
      <p:sp>
        <p:nvSpPr>
          <p:cNvPr id="14" name="Bildplatzhalter 2"/>
          <p:cNvSpPr>
            <a:spLocks noGrp="1"/>
          </p:cNvSpPr>
          <p:nvPr>
            <p:ph type="pic" sz="quarter" idx="10"/>
          </p:nvPr>
        </p:nvSpPr>
        <p:spPr>
          <a:xfrm>
            <a:off x="0" y="2420938"/>
            <a:ext cx="2711450"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5" name="Bildplatzhalter 2"/>
          <p:cNvSpPr>
            <a:spLocks noGrp="1"/>
          </p:cNvSpPr>
          <p:nvPr>
            <p:ph type="pic" sz="quarter" idx="14"/>
          </p:nvPr>
        </p:nvSpPr>
        <p:spPr>
          <a:xfrm>
            <a:off x="2711450" y="2420938"/>
            <a:ext cx="5225098"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6" name="Bildplatzhalter 2"/>
          <p:cNvSpPr>
            <a:spLocks noGrp="1"/>
          </p:cNvSpPr>
          <p:nvPr>
            <p:ph type="pic" sz="quarter" idx="15"/>
          </p:nvPr>
        </p:nvSpPr>
        <p:spPr>
          <a:xfrm>
            <a:off x="7940040" y="2420938"/>
            <a:ext cx="4251960"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9" name="Bildplatzhalter 4"/>
          <p:cNvSpPr>
            <a:spLocks noGrp="1"/>
          </p:cNvSpPr>
          <p:nvPr>
            <p:ph type="pic" sz="quarter" idx="16" hasCustomPrompt="1"/>
          </p:nvPr>
        </p:nvSpPr>
        <p:spPr>
          <a:xfrm>
            <a:off x="334963" y="5200968"/>
            <a:ext cx="1404937" cy="999807"/>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endParaRPr lang="de-DE" dirty="0"/>
          </a:p>
        </p:txBody>
      </p:sp>
      <p:sp>
        <p:nvSpPr>
          <p:cNvPr id="7" name="Textplatzhalter 7"/>
          <p:cNvSpPr>
            <a:spLocks noGrp="1"/>
          </p:cNvSpPr>
          <p:nvPr>
            <p:ph type="body" sz="quarter" idx="11" hasCustomPrompt="1"/>
          </p:nvPr>
        </p:nvSpPr>
        <p:spPr>
          <a:xfrm>
            <a:off x="2387601" y="5139267"/>
            <a:ext cx="9504362" cy="1061508"/>
          </a:xfrm>
          <a:prstGeom prst="rect">
            <a:avLst/>
          </a:prstGeom>
        </p:spPr>
        <p:txBody>
          <a:bodyPr lIns="0" tIns="0" rIns="0" bIns="0">
            <a:normAutofit/>
          </a:bodyPr>
          <a:lstStyle>
            <a:lvl1pPr marL="0" indent="0">
              <a:buNone/>
              <a:defRPr sz="20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endParaRPr lang="de-D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lösa">
    <p:spTree>
      <p:nvGrpSpPr>
        <p:cNvPr id="1" name=""/>
        <p:cNvGrpSpPr/>
        <p:nvPr/>
      </p:nvGrpSpPr>
      <p:grpSpPr>
        <a:xfrm>
          <a:off x="0" y="0"/>
          <a:ext cx="0" cy="0"/>
          <a:chOff x="0" y="0"/>
          <a:chExt cx="0" cy="0"/>
        </a:xfrm>
      </p:grpSpPr>
      <p:sp>
        <p:nvSpPr>
          <p:cNvPr id="6" name="Titelplatzhalter 25"/>
          <p:cNvSpPr>
            <a:spLocks noGrp="1"/>
          </p:cNvSpPr>
          <p:nvPr>
            <p:ph type="title" hasCustomPrompt="1"/>
          </p:nvPr>
        </p:nvSpPr>
        <p:spPr>
          <a:xfrm>
            <a:off x="2387600" y="266700"/>
            <a:ext cx="9504362"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5" name="Bildplatzhalter 4"/>
          <p:cNvSpPr>
            <a:spLocks noGrp="1"/>
          </p:cNvSpPr>
          <p:nvPr>
            <p:ph type="pic" sz="quarter" idx="11" hasCustomPrompt="1"/>
          </p:nvPr>
        </p:nvSpPr>
        <p:spPr>
          <a:xfrm>
            <a:off x="334963" y="1844675"/>
            <a:ext cx="1404937" cy="1381125"/>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endParaRPr lang="de-DE" dirty="0"/>
          </a:p>
        </p:txBody>
      </p:sp>
      <p:sp>
        <p:nvSpPr>
          <p:cNvPr id="13" name="Textplatzhalter 7"/>
          <p:cNvSpPr>
            <a:spLocks noGrp="1"/>
          </p:cNvSpPr>
          <p:nvPr>
            <p:ph type="body" sz="quarter" idx="13" hasCustomPrompt="1"/>
          </p:nvPr>
        </p:nvSpPr>
        <p:spPr>
          <a:xfrm>
            <a:off x="2711449" y="1775461"/>
            <a:ext cx="9180513" cy="51816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endParaRPr lang="de-DE"/>
          </a:p>
        </p:txBody>
      </p:sp>
      <p:sp>
        <p:nvSpPr>
          <p:cNvPr id="9" name="Bildplatzhalter 2"/>
          <p:cNvSpPr>
            <a:spLocks noGrp="1"/>
          </p:cNvSpPr>
          <p:nvPr>
            <p:ph type="pic" sz="quarter" idx="10"/>
          </p:nvPr>
        </p:nvSpPr>
        <p:spPr>
          <a:xfrm>
            <a:off x="2711450" y="2420938"/>
            <a:ext cx="9480550" cy="4096740"/>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Kaßberg">
    <p:spTree>
      <p:nvGrpSpPr>
        <p:cNvPr id="1" name=""/>
        <p:cNvGrpSpPr/>
        <p:nvPr/>
      </p:nvGrpSpPr>
      <p:grpSpPr>
        <a:xfrm>
          <a:off x="0" y="0"/>
          <a:ext cx="0" cy="0"/>
          <a:chOff x="0" y="0"/>
          <a:chExt cx="0" cy="0"/>
        </a:xfrm>
      </p:grpSpPr>
      <p:sp>
        <p:nvSpPr>
          <p:cNvPr id="8" name="Titelplatzhalter 25"/>
          <p:cNvSpPr>
            <a:spLocks noGrp="1"/>
          </p:cNvSpPr>
          <p:nvPr>
            <p:ph type="title" hasCustomPrompt="1"/>
          </p:nvPr>
        </p:nvSpPr>
        <p:spPr>
          <a:xfrm>
            <a:off x="2387600" y="266700"/>
            <a:ext cx="9504363"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9" name="Bildplatzhalter 2"/>
          <p:cNvSpPr>
            <a:spLocks noGrp="1"/>
          </p:cNvSpPr>
          <p:nvPr>
            <p:ph type="pic" sz="quarter" idx="14"/>
          </p:nvPr>
        </p:nvSpPr>
        <p:spPr>
          <a:xfrm>
            <a:off x="0" y="1484313"/>
            <a:ext cx="316992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4" name="Bildplatzhalter 2"/>
          <p:cNvSpPr>
            <a:spLocks noGrp="1"/>
          </p:cNvSpPr>
          <p:nvPr>
            <p:ph type="pic" sz="quarter" idx="10"/>
          </p:nvPr>
        </p:nvSpPr>
        <p:spPr>
          <a:xfrm>
            <a:off x="3177540" y="1484313"/>
            <a:ext cx="493014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0" name="Bildplatzhalter 2"/>
          <p:cNvSpPr>
            <a:spLocks noGrp="1"/>
          </p:cNvSpPr>
          <p:nvPr>
            <p:ph type="pic" sz="quarter" idx="15"/>
          </p:nvPr>
        </p:nvSpPr>
        <p:spPr>
          <a:xfrm>
            <a:off x="8115300" y="1484313"/>
            <a:ext cx="407670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3" name="Textplatzhalter 7"/>
          <p:cNvSpPr>
            <a:spLocks noGrp="1"/>
          </p:cNvSpPr>
          <p:nvPr>
            <p:ph type="body" sz="quarter" idx="13" hasCustomPrompt="1"/>
          </p:nvPr>
        </p:nvSpPr>
        <p:spPr>
          <a:xfrm>
            <a:off x="334963" y="4938395"/>
            <a:ext cx="11557000" cy="126238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endParaRPr lang="de-D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Reichenhain">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7" name="Textplatzhalter 7"/>
          <p:cNvSpPr>
            <a:spLocks noGrp="1"/>
          </p:cNvSpPr>
          <p:nvPr>
            <p:ph type="body" sz="quarter" idx="11" hasCustomPrompt="1"/>
          </p:nvPr>
        </p:nvSpPr>
        <p:spPr>
          <a:xfrm>
            <a:off x="192088" y="1996440"/>
            <a:ext cx="11807825" cy="434879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uba">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5" name="Bildplatzhalter 2"/>
          <p:cNvSpPr>
            <a:spLocks noGrp="1"/>
          </p:cNvSpPr>
          <p:nvPr>
            <p:ph type="pic" sz="quarter" idx="10"/>
          </p:nvPr>
        </p:nvSpPr>
        <p:spPr>
          <a:xfrm>
            <a:off x="192089" y="2060575"/>
            <a:ext cx="5795962" cy="4284663"/>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7" name="Textplatzhalter 7"/>
          <p:cNvSpPr>
            <a:spLocks noGrp="1"/>
          </p:cNvSpPr>
          <p:nvPr>
            <p:ph type="body" sz="quarter" idx="11" hasCustomPrompt="1"/>
          </p:nvPr>
        </p:nvSpPr>
        <p:spPr>
          <a:xfrm>
            <a:off x="6203950" y="2060574"/>
            <a:ext cx="5795963" cy="4284663"/>
          </a:xfrm>
          <a:prstGeom prst="rect">
            <a:avLst/>
          </a:prstGeom>
        </p:spPr>
        <p:txBody>
          <a:bodyPr>
            <a:normAutofit/>
          </a:bodyPr>
          <a:lstStyle>
            <a:lvl1pPr>
              <a:defRPr sz="28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insiedel">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5" name="Bildplatzhalter 2"/>
          <p:cNvSpPr>
            <a:spLocks noGrp="1"/>
          </p:cNvSpPr>
          <p:nvPr>
            <p:ph type="pic" sz="quarter" idx="10"/>
          </p:nvPr>
        </p:nvSpPr>
        <p:spPr>
          <a:xfrm>
            <a:off x="192089" y="2060575"/>
            <a:ext cx="5795962" cy="2366645"/>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7" name="Textplatzhalter 7"/>
          <p:cNvSpPr>
            <a:spLocks noGrp="1"/>
          </p:cNvSpPr>
          <p:nvPr>
            <p:ph type="body" sz="quarter" idx="11" hasCustomPrompt="1"/>
          </p:nvPr>
        </p:nvSpPr>
        <p:spPr>
          <a:xfrm>
            <a:off x="192088" y="4618672"/>
            <a:ext cx="5795962" cy="1726566"/>
          </a:xfrm>
          <a:prstGeom prst="rect">
            <a:avLst/>
          </a:prstGeom>
        </p:spPr>
        <p:txBody>
          <a:bodyPr>
            <a:normAutofit/>
          </a:bodyPr>
          <a:lstStyle>
            <a:lvl1pPr>
              <a:defRPr sz="24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p:txBody>
      </p:sp>
      <p:sp>
        <p:nvSpPr>
          <p:cNvPr id="8" name="Bildplatzhalter 2"/>
          <p:cNvSpPr>
            <a:spLocks noGrp="1"/>
          </p:cNvSpPr>
          <p:nvPr>
            <p:ph type="pic" sz="quarter" idx="15"/>
          </p:nvPr>
        </p:nvSpPr>
        <p:spPr>
          <a:xfrm>
            <a:off x="6203951" y="2060575"/>
            <a:ext cx="5795962" cy="2366645"/>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6" name="Textplatzhalter 7"/>
          <p:cNvSpPr>
            <a:spLocks noGrp="1"/>
          </p:cNvSpPr>
          <p:nvPr>
            <p:ph type="body" sz="quarter" idx="14" hasCustomPrompt="1"/>
          </p:nvPr>
        </p:nvSpPr>
        <p:spPr>
          <a:xfrm>
            <a:off x="6203950" y="4618672"/>
            <a:ext cx="5795962" cy="1726566"/>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abenstein">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5" name="Bildplatzhalter 2"/>
          <p:cNvSpPr>
            <a:spLocks noGrp="1"/>
          </p:cNvSpPr>
          <p:nvPr>
            <p:ph type="pic" sz="quarter" idx="10"/>
          </p:nvPr>
        </p:nvSpPr>
        <p:spPr>
          <a:xfrm>
            <a:off x="192089" y="2060575"/>
            <a:ext cx="3708399" cy="4284663"/>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11" name="Textplatzhalter 7"/>
          <p:cNvSpPr>
            <a:spLocks noGrp="1"/>
          </p:cNvSpPr>
          <p:nvPr>
            <p:ph type="body" sz="quarter" idx="11" hasCustomPrompt="1"/>
          </p:nvPr>
        </p:nvSpPr>
        <p:spPr>
          <a:xfrm>
            <a:off x="4116387" y="2060574"/>
            <a:ext cx="7883525" cy="4284663"/>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Erfenschlag">
    <p:spTree>
      <p:nvGrpSpPr>
        <p:cNvPr id="1" name=""/>
        <p:cNvGrpSpPr/>
        <p:nvPr/>
      </p:nvGrpSpPr>
      <p:grpSpPr>
        <a:xfrm>
          <a:off x="0" y="0"/>
          <a:ext cx="0" cy="0"/>
          <a:chOff x="0" y="0"/>
          <a:chExt cx="0" cy="0"/>
        </a:xfrm>
      </p:grpSpPr>
      <p:sp>
        <p:nvSpPr>
          <p:cNvPr id="4"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6" name="Bildplatzhalter 4"/>
          <p:cNvSpPr>
            <a:spLocks noGrp="1"/>
          </p:cNvSpPr>
          <p:nvPr>
            <p:ph type="pic" sz="quarter" idx="12" hasCustomPrompt="1"/>
          </p:nvPr>
        </p:nvSpPr>
        <p:spPr>
          <a:xfrm>
            <a:off x="192088" y="908050"/>
            <a:ext cx="790576" cy="928370"/>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endParaRPr lang="de-DE" dirty="0"/>
          </a:p>
        </p:txBody>
      </p:sp>
      <p:sp>
        <p:nvSpPr>
          <p:cNvPr id="12" name="Textplatzhalter 7"/>
          <p:cNvSpPr>
            <a:spLocks noGrp="1"/>
          </p:cNvSpPr>
          <p:nvPr>
            <p:ph type="body" sz="quarter" idx="13" hasCustomPrompt="1"/>
          </p:nvPr>
        </p:nvSpPr>
        <p:spPr>
          <a:xfrm>
            <a:off x="1558925" y="908050"/>
            <a:ext cx="10440988"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8" name="Textplatzhalter 7"/>
          <p:cNvSpPr>
            <a:spLocks noGrp="1"/>
          </p:cNvSpPr>
          <p:nvPr>
            <p:ph type="body" sz="quarter" idx="11" hasCustomPrompt="1"/>
          </p:nvPr>
        </p:nvSpPr>
        <p:spPr>
          <a:xfrm>
            <a:off x="1558925" y="1996440"/>
            <a:ext cx="10440988" cy="4348798"/>
          </a:xfrm>
          <a:prstGeom prst="rect">
            <a:avLst/>
          </a:prstGeom>
        </p:spPr>
        <p:txBody>
          <a:bodyPr>
            <a:normAutofit/>
          </a:bodyPr>
          <a:lstStyle>
            <a:lvl1pPr>
              <a:defRPr sz="28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ablenz">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10" name="Textplatzhalter 7"/>
          <p:cNvSpPr>
            <a:spLocks noGrp="1"/>
          </p:cNvSpPr>
          <p:nvPr>
            <p:ph type="body" sz="quarter" idx="13" hasCustomPrompt="1"/>
          </p:nvPr>
        </p:nvSpPr>
        <p:spPr>
          <a:xfrm>
            <a:off x="192088" y="908050"/>
            <a:ext cx="11807825" cy="468313"/>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23" name="Bildplatzhalter 2"/>
          <p:cNvSpPr>
            <a:spLocks noGrp="1"/>
          </p:cNvSpPr>
          <p:nvPr>
            <p:ph type="pic" sz="quarter" idx="10"/>
          </p:nvPr>
        </p:nvSpPr>
        <p:spPr>
          <a:xfrm>
            <a:off x="192088" y="1376363"/>
            <a:ext cx="3779837"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18" name="Textplatzhalter 7"/>
          <p:cNvSpPr>
            <a:spLocks noGrp="1"/>
          </p:cNvSpPr>
          <p:nvPr>
            <p:ph type="body" sz="quarter" idx="15" hasCustomPrompt="1"/>
          </p:nvPr>
        </p:nvSpPr>
        <p:spPr>
          <a:xfrm>
            <a:off x="192088" y="3497580"/>
            <a:ext cx="3779837"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
        <p:nvSpPr>
          <p:cNvPr id="24" name="Bildplatzhalter 2"/>
          <p:cNvSpPr>
            <a:spLocks noGrp="1"/>
          </p:cNvSpPr>
          <p:nvPr>
            <p:ph type="pic" sz="quarter" idx="18"/>
          </p:nvPr>
        </p:nvSpPr>
        <p:spPr>
          <a:xfrm>
            <a:off x="4151784" y="1376363"/>
            <a:ext cx="3852391"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21" name="Textplatzhalter 7"/>
          <p:cNvSpPr>
            <a:spLocks noGrp="1"/>
          </p:cNvSpPr>
          <p:nvPr>
            <p:ph type="body" sz="quarter" idx="16" hasCustomPrompt="1"/>
          </p:nvPr>
        </p:nvSpPr>
        <p:spPr>
          <a:xfrm>
            <a:off x="4151313" y="3497580"/>
            <a:ext cx="3852862"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
        <p:nvSpPr>
          <p:cNvPr id="25" name="Bildplatzhalter 2"/>
          <p:cNvSpPr>
            <a:spLocks noGrp="1"/>
          </p:cNvSpPr>
          <p:nvPr>
            <p:ph type="pic" sz="quarter" idx="19"/>
          </p:nvPr>
        </p:nvSpPr>
        <p:spPr>
          <a:xfrm>
            <a:off x="8184232" y="1376363"/>
            <a:ext cx="3815681"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22" name="Textplatzhalter 7"/>
          <p:cNvSpPr>
            <a:spLocks noGrp="1"/>
          </p:cNvSpPr>
          <p:nvPr>
            <p:ph type="body" sz="quarter" idx="17" hasCustomPrompt="1"/>
          </p:nvPr>
        </p:nvSpPr>
        <p:spPr>
          <a:xfrm>
            <a:off x="8183563" y="3497580"/>
            <a:ext cx="3816350"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Tree>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theme" Target="../theme/theme1.xml"/><Relationship Id="rId5" Type="http://schemas.openxmlformats.org/officeDocument/2006/relationships/image" Target="../media/image1.png"/><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7" Type="http://schemas.openxmlformats.org/officeDocument/2006/relationships/image" Target="../media/image1.png"/><Relationship Id="rId6" Type="http://schemas.openxmlformats.org/officeDocument/2006/relationships/slideLayout" Target="../slideLayouts/slideLayout10.xml"/><Relationship Id="rId5" Type="http://schemas.openxmlformats.org/officeDocument/2006/relationships/slideLayout" Target="../slideLayouts/slideLayout9.xml"/><Relationship Id="rId4" Type="http://schemas.openxmlformats.org/officeDocument/2006/relationships/slideLayout" Target="../slideLayouts/slideLayout8.xml"/><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hteck 8"/>
          <p:cNvSpPr/>
          <p:nvPr userDrawn="1"/>
        </p:nvSpPr>
        <p:spPr>
          <a:xfrm>
            <a:off x="0" y="0"/>
            <a:ext cx="12192000" cy="1512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4" name="Gerader Verbinder 13"/>
          <p:cNvCxnSpPr/>
          <p:nvPr userDrawn="1"/>
        </p:nvCxnSpPr>
        <p:spPr>
          <a:xfrm>
            <a:off x="2061369" y="333375"/>
            <a:ext cx="0" cy="82708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Gerader Verbinder 9"/>
          <p:cNvCxnSpPr/>
          <p:nvPr userDrawn="1"/>
        </p:nvCxnSpPr>
        <p:spPr>
          <a:xfrm>
            <a:off x="0" y="6525344"/>
            <a:ext cx="12192000" cy="1"/>
          </a:xfrm>
          <a:prstGeom prst="line">
            <a:avLst/>
          </a:prstGeom>
          <a:ln w="12700">
            <a:solidFill>
              <a:schemeClr val="tx1">
                <a:alpha val="40000"/>
              </a:schemeClr>
            </a:solidFill>
          </a:ln>
        </p:spPr>
        <p:style>
          <a:lnRef idx="1">
            <a:schemeClr val="accent1"/>
          </a:lnRef>
          <a:fillRef idx="0">
            <a:schemeClr val="accent1"/>
          </a:fillRef>
          <a:effectRef idx="0">
            <a:schemeClr val="accent1"/>
          </a:effectRef>
          <a:fontRef idx="minor">
            <a:schemeClr val="tx1"/>
          </a:fontRef>
        </p:style>
      </p:cxnSp>
      <p:sp>
        <p:nvSpPr>
          <p:cNvPr id="20" name="Rectangle 4"/>
          <p:cNvSpPr txBox="1">
            <a:spLocks noChangeArrowheads="1"/>
          </p:cNvSpPr>
          <p:nvPr userDrawn="1"/>
        </p:nvSpPr>
        <p:spPr bwMode="auto">
          <a:xfrm>
            <a:off x="192089" y="6525345"/>
            <a:ext cx="5759896"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dirty="0" smtClean="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defRPr/>
            </a:pPr>
            <a:r>
              <a:rPr lang="de-DE" sz="1400" dirty="0">
                <a:latin typeface="Roboto" panose="02000000000000000000" pitchFamily="2" charset="0"/>
                <a:ea typeface="Roboto" panose="02000000000000000000" pitchFamily="2" charset="0"/>
              </a:rPr>
              <a:t>Chemnitz</a:t>
            </a:r>
            <a:r>
              <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rPr>
              <a:t> ∙ TT</a:t>
            </a:r>
            <a:r>
              <a:rPr lang="de-DE" sz="1400" dirty="0">
                <a:latin typeface="Roboto" panose="02000000000000000000" pitchFamily="2" charset="0"/>
                <a:ea typeface="Roboto" panose="02000000000000000000" pitchFamily="2" charset="0"/>
              </a:rPr>
              <a:t>. Monat</a:t>
            </a:r>
            <a:r>
              <a:rPr lang="de-DE" sz="1400" baseline="0" dirty="0">
                <a:latin typeface="Roboto" panose="02000000000000000000" pitchFamily="2" charset="0"/>
                <a:ea typeface="Roboto" panose="02000000000000000000" pitchFamily="2" charset="0"/>
              </a:rPr>
              <a:t> 2021</a:t>
            </a:r>
            <a:r>
              <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rPr>
              <a:t> ∙ Prof. Dr. Fips Folienmaster </a:t>
            </a:r>
            <a:endPar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endParaRPr>
          </a:p>
        </p:txBody>
      </p:sp>
      <p:sp>
        <p:nvSpPr>
          <p:cNvPr id="18" name="Rectangle 5"/>
          <p:cNvSpPr txBox="1">
            <a:spLocks noChangeArrowheads="1"/>
          </p:cNvSpPr>
          <p:nvPr userDrawn="1"/>
        </p:nvSpPr>
        <p:spPr bwMode="auto">
          <a:xfrm>
            <a:off x="8252460" y="6525345"/>
            <a:ext cx="3747453"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r">
              <a:defRPr/>
            </a:pPr>
            <a:r>
              <a:rPr lang="de-DE" sz="1400" dirty="0">
                <a:latin typeface="Roboto" panose="02000000000000000000" pitchFamily="2" charset="0"/>
                <a:ea typeface="Roboto" panose="02000000000000000000" pitchFamily="2" charset="0"/>
              </a:rPr>
              <a:t>www.tu-chemnitz.de</a:t>
            </a:r>
            <a:endParaRPr lang="de-DE" sz="1400" dirty="0">
              <a:latin typeface="Roboto" panose="02000000000000000000" pitchFamily="2" charset="0"/>
              <a:ea typeface="Roboto" panose="02000000000000000000" pitchFamily="2" charset="0"/>
            </a:endParaRPr>
          </a:p>
        </p:txBody>
      </p:sp>
      <p:pic>
        <p:nvPicPr>
          <p:cNvPr id="3" name="Grafik 2" title="Logo der TU Chemnitz mit Bezug zur Kulturhauptstadt 2025"/>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34963" y="333375"/>
            <a:ext cx="1388034" cy="827088"/>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p:txStyles>
    <p:titleStyle>
      <a:lvl1pPr algn="l" rtl="0" eaLnBrk="1" fontAlgn="base" hangingPunct="1">
        <a:spcBef>
          <a:spcPct val="0"/>
        </a:spcBef>
        <a:spcAft>
          <a:spcPct val="0"/>
        </a:spcAft>
        <a:defRPr sz="2800" b="0">
          <a:solidFill>
            <a:schemeClr val="bg1"/>
          </a:solidFill>
          <a:latin typeface="Roboto" panose="02000000000000000000" pitchFamily="2" charset="0"/>
          <a:ea typeface="Roboto" panose="02000000000000000000" pitchFamily="2" charset="0"/>
          <a:cs typeface="+mj-cs"/>
        </a:defRPr>
      </a:lvl1pPr>
      <a:lvl2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2pPr>
      <a:lvl3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3pPr>
      <a:lvl4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4pPr>
      <a:lvl5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5pPr>
      <a:lvl6pPr marL="4572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6pPr>
      <a:lvl7pPr marL="9144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7pPr>
      <a:lvl8pPr marL="13716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8pPr>
      <a:lvl9pPr marL="18288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9pPr>
    </p:titleStyle>
    <p:body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cs typeface="+mn-cs"/>
        </a:defRPr>
      </a:lvl2pPr>
      <a:lvl3pPr marL="1143000" indent="-228600" algn="l" rtl="0" eaLnBrk="1" fontAlgn="base" hangingPunct="1">
        <a:spcBef>
          <a:spcPct val="20000"/>
        </a:spcBef>
        <a:spcAft>
          <a:spcPct val="0"/>
        </a:spcAft>
        <a:buChar char="•"/>
        <a:defRPr sz="2400">
          <a:solidFill>
            <a:schemeClr val="tx1"/>
          </a:solidFill>
          <a:latin typeface="+mn-lt"/>
          <a:cs typeface="+mn-cs"/>
        </a:defRPr>
      </a:lvl3pPr>
      <a:lvl4pPr marL="1600200" indent="-228600" algn="l" rtl="0" eaLnBrk="1" fontAlgn="base" hangingPunct="1">
        <a:spcBef>
          <a:spcPct val="20000"/>
        </a:spcBef>
        <a:spcAft>
          <a:spcPct val="0"/>
        </a:spcAft>
        <a:buChar char="–"/>
        <a:defRPr sz="2000">
          <a:solidFill>
            <a:schemeClr val="tx1"/>
          </a:solidFill>
          <a:latin typeface="+mn-lt"/>
          <a:cs typeface="+mn-cs"/>
        </a:defRPr>
      </a:lvl4pPr>
      <a:lvl5pPr marL="2057400" indent="-228600" algn="l" rtl="0" eaLnBrk="1" fontAlgn="base" hangingPunct="1">
        <a:spcBef>
          <a:spcPct val="20000"/>
        </a:spcBef>
        <a:spcAft>
          <a:spcPct val="0"/>
        </a:spcAft>
        <a:buChar char="»"/>
        <a:defRPr sz="2000">
          <a:solidFill>
            <a:schemeClr val="tx1"/>
          </a:solidFill>
          <a:latin typeface="+mn-lt"/>
          <a:cs typeface="+mn-cs"/>
        </a:defRPr>
      </a:lvl5pPr>
      <a:lvl6pPr marL="2514600" indent="-228600" algn="l" rtl="0" eaLnBrk="1" fontAlgn="base" hangingPunct="1">
        <a:spcBef>
          <a:spcPct val="20000"/>
        </a:spcBef>
        <a:spcAft>
          <a:spcPct val="0"/>
        </a:spcAft>
        <a:buChar char="»"/>
        <a:defRPr sz="2000">
          <a:solidFill>
            <a:schemeClr val="tx1"/>
          </a:solidFill>
          <a:latin typeface="+mn-lt"/>
          <a:cs typeface="+mn-cs"/>
        </a:defRPr>
      </a:lvl6pPr>
      <a:lvl7pPr marL="2971800" indent="-228600" algn="l" rtl="0" eaLnBrk="1" fontAlgn="base" hangingPunct="1">
        <a:spcBef>
          <a:spcPct val="20000"/>
        </a:spcBef>
        <a:spcAft>
          <a:spcPct val="0"/>
        </a:spcAft>
        <a:buChar char="»"/>
        <a:defRPr sz="2000">
          <a:solidFill>
            <a:schemeClr val="tx1"/>
          </a:solidFill>
          <a:latin typeface="+mn-lt"/>
          <a:cs typeface="+mn-cs"/>
        </a:defRPr>
      </a:lvl7pPr>
      <a:lvl8pPr marL="3429000" indent="-228600" algn="l" rtl="0" eaLnBrk="1" fontAlgn="base" hangingPunct="1">
        <a:spcBef>
          <a:spcPct val="20000"/>
        </a:spcBef>
        <a:spcAft>
          <a:spcPct val="0"/>
        </a:spcAft>
        <a:buChar char="»"/>
        <a:defRPr sz="2000">
          <a:solidFill>
            <a:schemeClr val="tx1"/>
          </a:solidFill>
          <a:latin typeface="+mn-lt"/>
          <a:cs typeface="+mn-cs"/>
        </a:defRPr>
      </a:lvl8pPr>
      <a:lvl9pPr marL="3886200" indent="-228600" algn="l" rtl="0" eaLnBrk="1" fontAlgn="base" hangingPunct="1">
        <a:spcBef>
          <a:spcPct val="20000"/>
        </a:spcBef>
        <a:spcAft>
          <a:spcPct val="0"/>
        </a:spcAft>
        <a:buChar char="»"/>
        <a:defRPr sz="2000">
          <a:solidFill>
            <a:schemeClr val="tx1"/>
          </a:solidFill>
          <a:latin typeface="+mn-lt"/>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9" name="Rechteck 8"/>
          <p:cNvSpPr/>
          <p:nvPr userDrawn="1"/>
        </p:nvSpPr>
        <p:spPr>
          <a:xfrm>
            <a:off x="0" y="274"/>
            <a:ext cx="12192000" cy="7647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1" name="Gerader Verbinder 10"/>
          <p:cNvCxnSpPr/>
          <p:nvPr userDrawn="1"/>
        </p:nvCxnSpPr>
        <p:spPr>
          <a:xfrm>
            <a:off x="1166868" y="152713"/>
            <a:ext cx="0" cy="46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userDrawn="1"/>
        </p:nvCxnSpPr>
        <p:spPr>
          <a:xfrm>
            <a:off x="0" y="6525344"/>
            <a:ext cx="12192000" cy="0"/>
          </a:xfrm>
          <a:prstGeom prst="line">
            <a:avLst/>
          </a:prstGeom>
          <a:ln w="12700">
            <a:solidFill>
              <a:schemeClr val="tx1">
                <a:alpha val="40000"/>
              </a:schemeClr>
            </a:solidFill>
          </a:ln>
        </p:spPr>
        <p:style>
          <a:lnRef idx="1">
            <a:schemeClr val="accent1"/>
          </a:lnRef>
          <a:fillRef idx="0">
            <a:schemeClr val="accent1"/>
          </a:fillRef>
          <a:effectRef idx="0">
            <a:schemeClr val="accent1"/>
          </a:effectRef>
          <a:fontRef idx="minor">
            <a:schemeClr val="tx1"/>
          </a:fontRef>
        </p:style>
      </p:cxnSp>
      <p:sp>
        <p:nvSpPr>
          <p:cNvPr id="32" name="Rectangle 5"/>
          <p:cNvSpPr txBox="1">
            <a:spLocks noChangeArrowheads="1"/>
          </p:cNvSpPr>
          <p:nvPr userDrawn="1"/>
        </p:nvSpPr>
        <p:spPr bwMode="auto">
          <a:xfrm>
            <a:off x="8252460" y="6525345"/>
            <a:ext cx="3747453"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r">
              <a:defRPr/>
            </a:pPr>
            <a:r>
              <a:rPr lang="de-DE" sz="1400" dirty="0">
                <a:latin typeface="Roboto" panose="02000000000000000000" pitchFamily="2" charset="0"/>
                <a:ea typeface="Roboto" panose="02000000000000000000" pitchFamily="2" charset="0"/>
              </a:rPr>
              <a:t>www.tu-chemnitz.de</a:t>
            </a:r>
            <a:endParaRPr lang="de-DE" sz="1400" dirty="0">
              <a:latin typeface="Roboto" panose="02000000000000000000" pitchFamily="2" charset="0"/>
              <a:ea typeface="Roboto" panose="02000000000000000000" pitchFamily="2" charset="0"/>
            </a:endParaRPr>
          </a:p>
        </p:txBody>
      </p:sp>
      <p:sp>
        <p:nvSpPr>
          <p:cNvPr id="34" name="Fußzeilenplatzhalter 4"/>
          <p:cNvSpPr txBox="1"/>
          <p:nvPr userDrawn="1"/>
        </p:nvSpPr>
        <p:spPr>
          <a:xfrm>
            <a:off x="4655840" y="6526933"/>
            <a:ext cx="5593060" cy="332656"/>
          </a:xfrm>
          <a:prstGeom prst="rect">
            <a:avLst/>
          </a:prstGeom>
        </p:spPr>
        <p:txBody>
          <a:bodyPr lIns="0" tIns="0" rIns="0" bIns="0" anchor="ctr" anchorCtr="0"/>
          <a:lstStyle>
            <a:defPPr>
              <a:defRPr lang="de-DE"/>
            </a:defPPr>
            <a:lvl1pPr algn="l" rtl="0" fontAlgn="base">
              <a:spcBef>
                <a:spcPct val="0"/>
              </a:spcBef>
              <a:spcAft>
                <a:spcPct val="0"/>
              </a:spcAft>
              <a:defRPr sz="1000" kern="1200" dirty="0" smtClean="0">
                <a:solidFill>
                  <a:schemeClr val="tx1"/>
                </a:solidFill>
                <a:latin typeface="Roboto Condensed" panose="02000000000000000000" pitchFamily="2" charset="0"/>
                <a:ea typeface="Roboto Condensed" panose="02000000000000000000" pitchFamily="2" charset="0"/>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ctr">
              <a:defRPr/>
            </a:pPr>
            <a:fld id="{72C5D026-0A5E-414E-BDD7-AEAAC7E56A8F}" type="slidenum">
              <a:rPr lang="de-DE" sz="1400" smtClean="0">
                <a:latin typeface="Roboto" panose="02000000000000000000" pitchFamily="2" charset="0"/>
                <a:ea typeface="Roboto" panose="02000000000000000000" pitchFamily="2" charset="0"/>
              </a:rPr>
            </a:fld>
            <a:endParaRPr lang="de-DE" sz="1400" dirty="0">
              <a:latin typeface="Roboto" panose="02000000000000000000" pitchFamily="2" charset="0"/>
              <a:ea typeface="Roboto" panose="02000000000000000000" pitchFamily="2" charset="0"/>
            </a:endParaRPr>
          </a:p>
        </p:txBody>
      </p:sp>
      <p:sp>
        <p:nvSpPr>
          <p:cNvPr id="23" name="Rectangle 4"/>
          <p:cNvSpPr txBox="1">
            <a:spLocks noChangeArrowheads="1"/>
          </p:cNvSpPr>
          <p:nvPr userDrawn="1"/>
        </p:nvSpPr>
        <p:spPr bwMode="auto">
          <a:xfrm>
            <a:off x="192089" y="6525345"/>
            <a:ext cx="5759896"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dirty="0" smtClean="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defRPr/>
            </a:pPr>
            <a:r>
              <a:rPr lang="de-DE" sz="1400" dirty="0">
                <a:latin typeface="Roboto" panose="02000000000000000000" pitchFamily="2" charset="0"/>
                <a:ea typeface="Roboto" panose="02000000000000000000" pitchFamily="2" charset="0"/>
              </a:rPr>
              <a:t>Chemnitz</a:t>
            </a:r>
            <a:r>
              <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rPr>
              <a:t> ∙ TT</a:t>
            </a:r>
            <a:r>
              <a:rPr lang="de-DE" sz="1400" dirty="0">
                <a:latin typeface="Roboto" panose="02000000000000000000" pitchFamily="2" charset="0"/>
                <a:ea typeface="Roboto" panose="02000000000000000000" pitchFamily="2" charset="0"/>
              </a:rPr>
              <a:t>. Monat</a:t>
            </a:r>
            <a:r>
              <a:rPr lang="de-DE" sz="1400" baseline="0" dirty="0">
                <a:latin typeface="Roboto" panose="02000000000000000000" pitchFamily="2" charset="0"/>
                <a:ea typeface="Roboto" panose="02000000000000000000" pitchFamily="2" charset="0"/>
              </a:rPr>
              <a:t> 2021</a:t>
            </a:r>
            <a:r>
              <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rPr>
              <a:t> ∙ Prof. Dr. Fips Folienmaster </a:t>
            </a:r>
            <a:endPar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endParaRPr>
          </a:p>
        </p:txBody>
      </p:sp>
      <p:pic>
        <p:nvPicPr>
          <p:cNvPr id="10" name="Grafik 9" title="Logo der TU Chemnitz mit Bezug zur Kulturhauptstadt 2025"/>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92089" y="152400"/>
            <a:ext cx="785406" cy="468000"/>
          </a:xfrm>
          <a:prstGeom prst="rect">
            <a:avLst/>
          </a:prstGeom>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914400" rtl="0" eaLnBrk="1" latinLnBrk="0" hangingPunct="1">
        <a:lnSpc>
          <a:spcPct val="90000"/>
        </a:lnSpc>
        <a:spcBef>
          <a:spcPct val="0"/>
        </a:spcBef>
        <a:buNone/>
        <a:defRPr sz="1600" b="1" kern="1200">
          <a:solidFill>
            <a:schemeClr val="bg1"/>
          </a:solidFill>
          <a:latin typeface="Roboto" panose="02000000000000000000" pitchFamily="2" charset="0"/>
          <a:ea typeface="Roboto" panose="02000000000000000000" pitchFamily="2"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387600" y="266700"/>
            <a:ext cx="9504363" cy="893763"/>
          </a:xfrm>
        </p:spPr>
        <p:txBody>
          <a:bodyPr/>
          <a:lstStyle/>
          <a:p>
            <a:r>
              <a:rPr lang="de-DE"/>
              <a:t>1. Meilenstein: Requirements</a:t>
            </a:r>
            <a:endParaRPr lang="de-DE" dirty="0"/>
          </a:p>
        </p:txBody>
      </p:sp>
      <p:sp>
        <p:nvSpPr>
          <p:cNvPr id="4" name="Textplatzhalter 3"/>
          <p:cNvSpPr>
            <a:spLocks noGrp="1"/>
          </p:cNvSpPr>
          <p:nvPr>
            <p:ph type="body" sz="quarter" idx="13"/>
          </p:nvPr>
        </p:nvSpPr>
        <p:spPr/>
        <p:txBody>
          <a:bodyPr/>
          <a:lstStyle/>
          <a:p>
            <a:endParaRPr lang="de-DE"/>
          </a:p>
        </p:txBody>
      </p:sp>
      <p:sp>
        <p:nvSpPr>
          <p:cNvPr id="3" name="Bildplatzhalter 2" descr="wird beim einfügen des Bildes eingesetzt&#10;"/>
          <p:cNvSpPr>
            <a:spLocks noGrp="1"/>
          </p:cNvSpPr>
          <p:nvPr>
            <p:ph type="pic" sz="quarter" idx="10"/>
          </p:nvPr>
        </p:nvSpPr>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1A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-Type: </a:t>
              </a:r>
              <a:r>
                <a:rPr lang="de-DE" dirty="0">
                  <a:solidFill>
                    <a:schemeClr val="tx1"/>
                  </a:solidFill>
                </a:rPr>
                <a:t>Funktional</a:t>
              </a:r>
              <a:endParaRPr lang="de-DE" dirty="0">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Anruf mit einer Anfrage geht ein.</a:t>
              </a:r>
              <a:endParaRPr lang="de-DE" b="1">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Das System stellt eine Eigabemaske für Anfragen bereit, in der alle Daten zum Fall eingetragen werden können.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Mitarbeiterinnen sollen alle wichtigen Informationen zur Anfrage digital erfassen, anstatt sie händisch zu notieren.</a:t>
              </a:r>
              <a:endParaRPr lang="de-DE"/>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neue Anfragen anlegen, ausfüllen und speichern.</a:t>
              </a:r>
              <a:endParaRPr lang="de-DE"/>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endParaRPr lang="de-DE"/>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 </a:t>
            </a:r>
            <a:r>
              <a:rPr lang="de-DE"/>
              <a:t>Daten, die erhoben werden sollen stehen im Statistik-Bogen.</a:t>
            </a:r>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2A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Anruf zu einer Anfrage geht ein.</a:t>
              </a:r>
              <a:endParaRPr lang="de-DE" b="1"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Das System stellt eine </a:t>
              </a:r>
              <a:r>
                <a:rPr lang="de-DE" dirty="0" err="1">
                  <a:solidFill>
                    <a:schemeClr val="tx1"/>
                  </a:solidFill>
                </a:rPr>
                <a:t>Eigabemaske</a:t>
              </a:r>
              <a:r>
                <a:rPr lang="de-DE" dirty="0">
                  <a:solidFill>
                    <a:schemeClr val="tx1"/>
                  </a:solidFill>
                </a:rPr>
                <a:t> für Beratungsanfragen bereit, in der alle Daten zum Fall eingetragen werden können. (B/E/A)</a:t>
              </a:r>
              <a:endParaRPr lang="de-DE" dirty="0"/>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Mitarbeiterinnen sollen alle wichtigen Informationen zum Fall digital erfassen, anstatt sie händisch zu notieren.</a:t>
              </a:r>
              <a:endParaRPr lang="de-DE"/>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neue Fälle anlegen, ausfüllen und speichern.</a:t>
              </a:r>
              <a:endParaRPr lang="de-DE"/>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endParaRPr lang="de-DE"/>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 </a:t>
            </a:r>
            <a:r>
              <a:rPr lang="de-DE"/>
              <a:t>Daten, die erhoben werden sollen stehen im Statistik-Bogen.</a:t>
            </a:r>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3A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Es gibt eine Gesetzesänderung.</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Eingabemasken sollen bearbeitbar sein: weitere Informationsfelder mit Unterscheidung Text-/Zahlen-/Datumsfeld sollen hinzugefügt werden können und für alle Mitarbeiter gespeichert werden. (E/A)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Es ist aufgrund von anstehenden Gesetzesänderungen wahrscheinlich, dass sich die zu erfassenden Informationen verändern werden.</a:t>
              </a:r>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die Eingabemaske bearbeiten und neue Felder hinzufügen. Dabei können Sie auswählen, um welche Art der Eingabe es sich handelt (Text, Anzahl, Datum, Auswahl).</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b="1">
              <a:solidFill>
                <a:schemeClr val="accent1"/>
              </a:solidFill>
            </a:endParaRPr>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4A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Eine Anfrage oder ein Fall wird gespeichert</a:t>
              </a:r>
              <a:r>
                <a:rPr lang="de-DE" b="1" dirty="0">
                  <a:solidFill>
                    <a:schemeClr val="tx1"/>
                  </a:solidFill>
                </a:rPr>
                <a:t>.</a:t>
              </a:r>
              <a:endParaRPr lang="de-DE" b="1"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Beim Speichern prüft das System, ob alle Pflichtfelder ausgefüllt sind und bei fehlenden Angaben wird eine Meldung ausgelöst, die bewusst weggeklickt werden muss.</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t>Die Nutzerinnen sollen nicht aus Versehen vergessen ein Feld auszufüllen.</a:t>
              </a:r>
              <a:endParaRPr lang="de-DE" dirty="0"/>
            </a:p>
            <a:p>
              <a:endParaRPr lang="de-DE" dirty="0"/>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Kundinnen/Praktikumsleitung </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Beim Speichern unvollständiger Eingaben erscheint eine Meldung mit den Optionen [Nachtragen] oder [trotzdem speichern].</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Should</a:t>
              </a:r>
              <a:endParaRPr lang="de-DE"/>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b="1">
              <a:solidFill>
                <a:schemeClr val="accent1"/>
              </a:solidFill>
            </a:endParaRPr>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5A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weitere Beratungstermine.</a:t>
              </a:r>
              <a:endParaRPr lang="de-DE">
                <a:solidFill>
                  <a:schemeClr val="tx1"/>
                </a:solidFill>
              </a:endParaRPr>
            </a:p>
          </p:txBody>
        </p:sp>
      </p:grpSp>
      <p:grpSp>
        <p:nvGrpSpPr>
          <p:cNvPr id="14" name="Gruppieren 13"/>
          <p:cNvGrpSpPr/>
          <p:nvPr/>
        </p:nvGrpSpPr>
        <p:grpSpPr>
          <a:xfrm>
            <a:off x="168751" y="1549163"/>
            <a:ext cx="11854497" cy="3388327"/>
            <a:chOff x="160973" y="1725626"/>
            <a:chExt cx="11854497" cy="3388327"/>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bestehende Fälle suchen, anzeigen und bearbeiten, um neue Informationen hinzuzufügen.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Beratungen sind fortlaufend, also müssen Fälle aktualisiert werden können.</a:t>
              </a:r>
              <a:endParaRPr lang="de-DE"/>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a:t>
              </a:r>
              <a:endParaRPr lang="de-DE" dirty="0"/>
            </a:p>
            <a:p>
              <a:endParaRPr lang="de-DE" dirty="0"/>
            </a:p>
          </p:txBody>
        </p:sp>
        <p:sp>
          <p:nvSpPr>
            <p:cNvPr id="12" name="Textfeld 11"/>
            <p:cNvSpPr txBox="1"/>
            <p:nvPr/>
          </p:nvSpPr>
          <p:spPr>
            <a:xfrm>
              <a:off x="176530" y="4191933"/>
              <a:ext cx="11838940" cy="92202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Nutzerin kann bestimmte Fälle über Filter finden (Alias, Wohnort, Alter, Geschlechtsidentität,…). Der zuletzt bearbeitete Fall soll explizit aufrufbar sein.</a:t>
              </a:r>
              <a:endParaRPr lang="de-DE">
                <a:solidFill>
                  <a:schemeClr val="tx1"/>
                </a:solidFill>
              </a:endParaRPr>
            </a:p>
            <a:p>
              <a:endParaRPr lang="de-DE">
                <a:solidFill>
                  <a:schemeClr val="tx1"/>
                </a:solidFill>
              </a:endParaRPr>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endParaRPr lang="de-DE"/>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b="1">
              <a:solidFill>
                <a:schemeClr val="accent1"/>
              </a:solidFill>
            </a:endParaRPr>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6A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z.B nachträgliche Terminzusage per E-Mail.</a:t>
              </a:r>
              <a:endParaRPr lang="de-DE">
                <a:solidFill>
                  <a:schemeClr val="tx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nach allen Anfragen eines bestimmten Tages suchen und diese bearbeiten. (B/E/A)</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Die Nachträgliche Informationen müssen nachgetragen werden können.</a:t>
              </a:r>
              <a:endParaRPr lang="de-DE"/>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 </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Es gibt ein Suchfeld, in dem nach Anfragen zu einem bestimmten Tag gefiltert werden kann und die Anfragen können bearbeitet werden.</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endParaRPr lang="de-DE"/>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b="1">
              <a:solidFill>
                <a:schemeClr val="accent1"/>
              </a:solidFill>
            </a:endParaRPr>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7A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Aus einer Anfrage wird ein Fall.</a:t>
              </a:r>
              <a:endParaRPr lang="de-DE" b="1">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Aus einer vorangegangenen Anfrage können die Daten für einen neuen Fall übertragen werden. (B/E/A)</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Wenn aus einer Anfrage ein Fall resultiert, sollen nicht alle wichtigen Daten erneut eingetippt werden müssen.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Gruppe/Kundinnen </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in einer Anfrage ein Feld anklicken, wodurch die Daten direkt in einen neuen Fall importiert werden. Oder Nutzerin kann beim Anlegen eines neuen Falls die Daten einer Anfrage importieren.</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8A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sz="1700">
                  <a:solidFill>
                    <a:schemeClr val="tx1"/>
                  </a:solidFill>
                </a:rPr>
                <a:t>Mitarbeiterinnen wollen einen Überblick über Fälle.</a:t>
              </a:r>
              <a:endParaRPr lang="de-DE" sz="170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einfache Statistiken (Ausgabe von Zahlenwerten) über Anfragen und Fälle für definierte Zeiträume erstellen.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Es müssen regelmäßig Berichte und Zahlen für Fördermittel erstellt werden.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Im Statistikbereich können diejenigen Attribute gefiltert werden, über die eine Statistik berechnet wird.</a:t>
              </a:r>
              <a:endParaRPr lang="de-DE"/>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9A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sz="1700">
                  <a:solidFill>
                    <a:schemeClr val="tx1"/>
                  </a:solidFill>
                </a:rPr>
                <a:t>Mitarbeiterinnen wollen einen Überblick über Fälle.</a:t>
              </a:r>
              <a:endParaRPr lang="de-DE" sz="170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Statistische Daten können zusätzlich als Diagramme und/oder Graphen angezeigt werden.</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Es Graphische Darstellung erleichtert Verständnis und Präsentation.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ausgewählte Daten im Dashboard visualisieren.</a:t>
              </a:r>
              <a:endParaRPr lang="de-DE"/>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646331"/>
            <a:chOff x="176530" y="1113153"/>
            <a:chExt cx="11823383" cy="646331"/>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10A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Statistik soll beim Gesetzgeber abgegeben werden</a:t>
              </a:r>
              <a:endParaRPr lang="de-DE" b="1"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Es gibt drei vordefinierte Presets zur Erstellung von Statistiken. </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die vom Gesetzgeber vorgegeben sind, sollen direkt geladen werden können.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Im Statistikbereich gibt es drei Module, die direkt die jweilige Statistik mit den jeweiligen Daten ausgibt.</a:t>
              </a:r>
              <a:endParaRPr lang="de-DE"/>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 </a:t>
            </a:r>
            <a:r>
              <a:rPr lang="de-DE">
                <a:solidFill>
                  <a:schemeClr val="tx1"/>
                </a:solidFill>
              </a:rPr>
              <a:t>Die vordefinierten Presets entsprechen dem Dokument </a:t>
            </a:r>
            <a:r>
              <a:rPr lang="de-DE"/>
              <a:t>“Statistische Angaben zu den Fachberatungsstellen Sexualisierte Gewalt”.</a:t>
            </a:r>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11A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Eine Statistik wird häufig benötigt.</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Im Statistikbereich gibt es die Möglichkeit die aktuellen Filtereinstellungen als neuen Preset mit einem bestimmten Namen abzuspeichern (persönlich oder für alle Nutzerinnen).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solidFill>
                    <a:schemeClr val="tx1"/>
                  </a:solidFill>
                </a:rPr>
                <a:t>Statistiken, die erfahrungsgemäß häufig benötigt werden, sollen schnell erstellt werden können.</a:t>
              </a:r>
              <a:endParaRPr lang="de-DE" dirty="0">
                <a:solidFill>
                  <a:schemeClr val="tx1"/>
                </a:solidFill>
              </a:endParaRPr>
            </a:p>
            <a:p>
              <a:endParaRPr lang="de-DE" dirty="0"/>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Aktuelle Filtereinstellungen können mit einem Klick gespeichert werden. Es muss dann ein Name eingegeben werden und ausgewählt werden, ob der Preset nur persönlich oder für alle sichtbar sein soll.</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12A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r>
                <a:rPr lang="de-DE">
                  <a:solidFill>
                    <a:schemeClr val="tx1"/>
                  </a:solidFill>
                </a:rPr>
                <a:t>.</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Bestehende Presets können verwaltet und gelöscht werden. (E/A)</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Falls Fehler bei der Erstellung eines Presets gemacht wurden oder falls ein Preset nicht mehr benötigt wird.</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Neben den Presets gibt es ein Bearbeitungs-Icon mit dem der Preset verwaltet werden kann (Name, Filtereinstellung oder Löschen).</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13A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Weiterleiten von Daten.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Im Export der Statistikdaten in mindestens PDF-, CSV-, und XLSX-Formate. (B/E/A)</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müssen weitergegeben und archiviert werden können.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Download-Button mit der Auswahl PDF, CVS oder XLSX.</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14A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-Type: </a:t>
              </a:r>
              <a:r>
                <a:rPr lang="de-DE" dirty="0">
                  <a:solidFill>
                    <a:schemeClr val="tx1"/>
                  </a:solidFill>
                </a:rPr>
                <a:t>Funktional</a:t>
              </a:r>
              <a:endParaRPr lang="de-DE" dirty="0">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Nutzerinnenkonten erstellen.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System unterstützt drei Arten von Nutzerinnenkonten mit abgestuften Rechten: Basis, Erweitert, Administration. Es muss mindestens ein Administrationskonto geben.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Daten und klare Rollenverteilung, damit Nutzerinnen nicht mit Optionen überfordert werden, die sie nicht benötigen.</a:t>
              </a:r>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Das System wird mit einem bestehenden Administrationskonto geliefert und es können weitere Konten über den/die </a:t>
              </a:r>
              <a:r>
                <a:rPr lang="de-DE" dirty="0" err="1">
                  <a:solidFill>
                    <a:schemeClr val="tx1"/>
                  </a:solidFill>
                </a:rPr>
                <a:t>Administrator:in</a:t>
              </a:r>
              <a:r>
                <a:rPr lang="de-DE" dirty="0">
                  <a:solidFill>
                    <a:schemeClr val="tx1"/>
                  </a:solidFill>
                </a:rPr>
                <a:t> erstellt werden.</a:t>
              </a:r>
              <a:endParaRPr lang="de-DE" dirty="0"/>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15A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Mitarbeiterin startet das Programm.</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 Nutzerinnen melden sich beim Starten des Programms mit Benutzername und Passwort an und können sich auch wieder abmelden.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Daten.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Es gibt ein Anmeldebereich beim Starten bzw. Abmelden mit den Feldern [Benutzername] und [Passwort].</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16A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z.B. nachdem das Konto neu erstellt wurde.</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 Passwörter können von der Nutzerin selbst geändert werden (B/E/A). Die Administration kann auch die Passwörter der anderen Konten zurücksetzen.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Nutzerinnen müssen ihr eigenes Passwort bestimmen können, nachdem ihr Konto angelegt wurde und falls sie es vergessen, muss es zurücksetzbar sein.</a:t>
              </a:r>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Es gibt einen Bereich [Passwort ändern] in jedem Nutzerkonto.</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17A</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Verwalten der Konten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Verwaltung der Nutzerkonten durch den/die Administrator:in: Konten anlegen, Rechte zuweisen/entziehen, Konten löschen, Passwörter ändern.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Nutzerinnenverwaltung muss intern durchführbar sein.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Im Administrationskonto gibt es einen erweiterten Bereich zum Verwalten der Nutzerkonten: bestehende Konten bearbeiten, neue Anlegen und Löschen.</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1B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Die Applikation soll mit Client-Server-Architektur und Microservice bereitgestellt werden.</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Zentrale Datenhaltung.</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Anwendung lässt sich auf einem Server deployen.</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2B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Die Software wird als Docker-Image bereitgestellt.</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Einfache Installation und Verwendbarkeit auf jedem Rechner.</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Docker Container lässt sich starten und Software funktioniert wie beschrieben.</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3B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a:t>
              </a:r>
              <a:r>
                <a:rPr lang="de-DE" dirty="0">
                  <a:solidFill>
                    <a:schemeClr val="tx1"/>
                  </a:solidFill>
                </a:rPr>
                <a:t> Kundinnen wollen Programm </a:t>
              </a:r>
              <a:r>
                <a:rPr lang="de-DE" dirty="0" err="1">
                  <a:solidFill>
                    <a:schemeClr val="tx1"/>
                  </a:solidFill>
                </a:rPr>
                <a:t>instalieren</a:t>
              </a:r>
              <a:r>
                <a:rPr lang="de-DE" dirty="0">
                  <a:solidFill>
                    <a:schemeClr val="tx1"/>
                  </a:solidFill>
                </a:rPr>
                <a:t>/nutzen</a:t>
              </a:r>
              <a:endParaRPr lang="de-DE"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Installationsschritte für Software sind in README erklärt. </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Erklärung zur Installation für die Kundinnen.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Installation der Software funktioniert wie in README beschrieben.</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4B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Änderungen in der Software</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Automatisierte Tests durch CI/CD-Pipeline. </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Stabilität und Vermeidung von Fehlern bei Softwareänderungen.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Pipeline führt neue Commits automatisch bei neuen Commits aus.</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5B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Erste Nutzungserfahrungen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Zur Software wird eine Benutzerhandbuch mitgeliefert, dass die Funktionen und die Anwendung der Software erklärt.</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Kundinnen sollen sich die Benutzung der Software mit dem Handbuch selbst beibringen können.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Nutzerhandbuch wird als z.B. PDF bereitgestellt.</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6B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Anlegen einer neuen Anfrage</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Zur Ausführung von zentralen Aktionen (z.B. Anlegen einer neuen Anfrage/Fall, Statistik anzeigen) gibt es eine maximale Klicktiefe.</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Um die Eingabe möglichst einfach und effizient zu gestalten (UX/Performance).</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Durchschnittlich sollten nicht mehr als 4 Klicks benötigt werden, um eine neue Anfrage oder einen Fall anzulegen und zu speichern.</a:t>
              </a:r>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a:t>
              </a:r>
              <a:r>
                <a:rPr lang="de-DE" dirty="0">
                  <a:solidFill>
                    <a:schemeClr val="tx1"/>
                  </a:solidFill>
                </a:rPr>
                <a:t> high</a:t>
              </a:r>
              <a:endParaRPr lang="de-DE" b="1" dirty="0">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7B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Suchen nach einem Fall</a:t>
              </a:r>
              <a:endParaRPr lang="de-DE">
                <a:solidFill>
                  <a:schemeClr val="accent1"/>
                </a:solidFill>
              </a:endParaRPr>
            </a:p>
          </p:txBody>
        </p:sp>
      </p:grpSp>
      <p:grpSp>
        <p:nvGrpSpPr>
          <p:cNvPr id="14" name="Gruppieren 13"/>
          <p:cNvGrpSpPr/>
          <p:nvPr/>
        </p:nvGrpSpPr>
        <p:grpSpPr>
          <a:xfrm>
            <a:off x="168751" y="1549163"/>
            <a:ext cx="11854497" cy="3388327"/>
            <a:chOff x="160973" y="1725626"/>
            <a:chExt cx="11854497" cy="3388327"/>
          </a:xfrm>
        </p:grpSpPr>
        <p:sp>
          <p:nvSpPr>
            <p:cNvPr id="9" name="Textfeld 8"/>
            <p:cNvSpPr txBox="1"/>
            <p:nvPr/>
          </p:nvSpPr>
          <p:spPr>
            <a:xfrm>
              <a:off x="160973" y="1725626"/>
              <a:ext cx="11838940"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Seitenwechsel oder Datenabfragen dürfen maximal 4 Sekunden dauern.</a:t>
              </a:r>
              <a:endParaRPr lang="de-DE" dirty="0"/>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Um möglichst effizient arbeiten zu können (Performance).</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 </a:t>
              </a:r>
              <a:endParaRPr lang="de-DE" dirty="0">
                <a:solidFill>
                  <a:schemeClr val="tx1"/>
                </a:solidFill>
              </a:endParaRPr>
            </a:p>
            <a:p>
              <a:endParaRPr lang="de-DE" dirty="0"/>
            </a:p>
          </p:txBody>
        </p:sp>
        <p:sp>
          <p:nvSpPr>
            <p:cNvPr id="12" name="Textfeld 11"/>
            <p:cNvSpPr txBox="1"/>
            <p:nvPr/>
          </p:nvSpPr>
          <p:spPr>
            <a:xfrm>
              <a:off x="176530" y="4191933"/>
              <a:ext cx="11838940" cy="92202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95% aller Seitenaufrufe im Testsystem werden in unter 4 Sekunden geladen. </a:t>
              </a:r>
              <a:r>
                <a:rPr lang="de-DE" dirty="0">
                  <a:solidFill>
                    <a:schemeClr val="tx1"/>
                  </a:solidFill>
                  <a:sym typeface="+mn-ea"/>
                </a:rPr>
                <a:t> (i7-7700, Nvidea GTX1060, 16GB Ram, HDD)</a:t>
              </a:r>
              <a:endParaRPr lang="de-DE">
                <a:solidFill>
                  <a:schemeClr val="tx1"/>
                </a:solidFill>
              </a:endParaRPr>
            </a:p>
            <a:p>
              <a:endParaRPr lang="de-DE">
                <a:solidFill>
                  <a:schemeClr val="tx1"/>
                </a:solidFill>
              </a:endParaRPr>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8B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Passwort erstellen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Passwörter müssen mindestens 8 Zeichen, einen Groß- und Kleinbuchstaben, eine Zahl und ein Sonderzeichen enthalten.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personenbezogener Daten.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Das System akzeptiert nur Anforderungen, die die Kriterien erfüllen und gibt ansonsten eine Fehlermeldung aus.</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9B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Daten erheben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Alle gespeicherten Personenbezogenen Daten werden verschlüsselt in der Datenbank abgelegt.</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personenbezogener Daten.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Datenbank enthält nur verschlüsselte Werte für personenbezogene Felder.</a:t>
              </a:r>
              <a:endParaRPr lang="de-DE">
                <a:solidFill>
                  <a:schemeClr val="tx1"/>
                </a:solidFill>
              </a:endParaRPr>
            </a:p>
            <a:p>
              <a:endParaRPr lang="de-DE"/>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10B</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Suchen nach einem Fall</a:t>
              </a:r>
              <a:endParaRPr lang="de-DE">
                <a:solidFill>
                  <a:schemeClr val="accent1"/>
                </a:solidFill>
              </a:endParaRPr>
            </a:p>
          </p:txBody>
        </p:sp>
      </p:grpSp>
      <p:grpSp>
        <p:nvGrpSpPr>
          <p:cNvPr id="14" name="Gruppieren 13"/>
          <p:cNvGrpSpPr/>
          <p:nvPr/>
        </p:nvGrpSpPr>
        <p:grpSpPr>
          <a:xfrm>
            <a:off x="168751" y="1549163"/>
            <a:ext cx="11854497" cy="3111467"/>
            <a:chOff x="160973" y="1725626"/>
            <a:chExt cx="11854497" cy="3111467"/>
          </a:xfrm>
        </p:grpSpPr>
        <p:sp>
          <p:nvSpPr>
            <p:cNvPr id="9" name="Textfeld 8"/>
            <p:cNvSpPr txBox="1"/>
            <p:nvPr/>
          </p:nvSpPr>
          <p:spPr>
            <a:xfrm>
              <a:off x="160973" y="1725626"/>
              <a:ext cx="11838940"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Ein Fall soll durch das letzte Bearbeitungsdatum suchbar sein.</a:t>
              </a:r>
              <a:endParaRPr lang="de-DE" dirty="0"/>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Um möglichst effizient arbeiten zu können (Performance).</a:t>
              </a:r>
              <a:endParaRPr lang="de-DE">
                <a:solidFill>
                  <a:schemeClr val="tx1"/>
                </a:solidFill>
              </a:endParaRPr>
            </a:p>
            <a:p>
              <a:endParaRPr lang="de-DE"/>
            </a:p>
          </p:txBody>
        </p:sp>
        <p:sp>
          <p:nvSpPr>
            <p:cNvPr id="11" name="Textfeld 10"/>
            <p:cNvSpPr txBox="1"/>
            <p:nvPr/>
          </p:nvSpPr>
          <p:spPr>
            <a:xfrm>
              <a:off x="176530" y="3340420"/>
              <a:ext cx="11838940"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Gruppe/Kundinnen </a:t>
              </a:r>
              <a:endParaRPr lang="de-DE" dirty="0">
                <a:solidFill>
                  <a:schemeClr val="tx1"/>
                </a:solidFill>
              </a:endParaRPr>
            </a:p>
            <a:p>
              <a:endParaRPr lang="de-DE" dirty="0"/>
            </a:p>
          </p:txBody>
        </p:sp>
        <p:sp>
          <p:nvSpPr>
            <p:cNvPr id="12" name="Textfeld 11"/>
            <p:cNvSpPr txBox="1"/>
            <p:nvPr/>
          </p:nvSpPr>
          <p:spPr>
            <a:xfrm>
              <a:off x="176530" y="4191933"/>
              <a:ext cx="11838940"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Beim Speichern eines Falles wird das Datum als letztes Bearbeitungsdatum mit gespeichert, wonach später beim Suchen eines Falls sortiert werden kann.</a:t>
              </a:r>
              <a:endParaRPr lang="de-DE">
                <a:solidFill>
                  <a:schemeClr val="tx1"/>
                </a:solidFill>
              </a:endParaRPr>
            </a:p>
          </p:txBody>
        </p:sp>
      </p:grpSp>
      <p:grpSp>
        <p:nvGrpSpPr>
          <p:cNvPr id="15" name="Gruppieren 14"/>
          <p:cNvGrpSpPr/>
          <p:nvPr/>
        </p:nvGrpSpPr>
        <p:grpSpPr>
          <a:xfrm>
            <a:off x="168751" y="4866983"/>
            <a:ext cx="11823383" cy="369332"/>
            <a:chOff x="176530" y="1113153"/>
            <a:chExt cx="11823383" cy="369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Satisfaction:</a:t>
              </a:r>
              <a:endParaRPr lang="de-DE" b="1">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Customer Dissatisfaction:</a:t>
              </a:r>
              <a:endParaRPr lang="de-DE" b="1">
                <a:solidFill>
                  <a:schemeClr val="accent1"/>
                </a:solidFill>
              </a:endParaRPr>
            </a:p>
          </p:txBody>
        </p:sp>
      </p:grpSp>
      <p:sp>
        <p:nvSpPr>
          <p:cNvPr id="19" name="Textfeld 18"/>
          <p:cNvSpPr txBox="1"/>
          <p:nvPr/>
        </p:nvSpPr>
        <p:spPr>
          <a:xfrm>
            <a:off x="184308" y="5441496"/>
            <a:ext cx="576643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Supporting Material:</a:t>
            </a:r>
            <a:endParaRPr lang="de-DE" b="1">
              <a:solidFill>
                <a:schemeClr val="accent1"/>
              </a:solidFill>
            </a:endParaRPr>
          </a:p>
          <a:p>
            <a:endParaRPr lang="de-DE"/>
          </a:p>
          <a:p>
            <a:endParaRPr lang="de-DE"/>
          </a:p>
        </p:txBody>
      </p:sp>
      <p:sp>
        <p:nvSpPr>
          <p:cNvPr id="20" name="Textfeld 19"/>
          <p:cNvSpPr txBox="1"/>
          <p:nvPr/>
        </p:nvSpPr>
        <p:spPr>
          <a:xfrm>
            <a:off x="6103778" y="5441496"/>
            <a:ext cx="5888356"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Conflicts:</a:t>
            </a:r>
            <a:endParaRPr lang="de-DE" b="1">
              <a:solidFill>
                <a:schemeClr val="accent1"/>
              </a:solidFill>
            </a:endParaRPr>
          </a:p>
          <a:p>
            <a:endParaRPr lang="de-DE"/>
          </a:p>
          <a:p>
            <a:endParaRPr lang="de-DE"/>
          </a:p>
        </p:txBody>
      </p:sp>
    </p:spTree>
  </p:cSld>
  <p:clrMapOvr>
    <a:masterClrMapping/>
  </p:clrMapOvr>
</p:sld>
</file>

<file path=ppt/theme/theme1.xml><?xml version="1.0" encoding="utf-8"?>
<a:theme xmlns:a="http://schemas.openxmlformats.org/drawingml/2006/main" name="TUC Startfolie">
  <a:themeElements>
    <a:clrScheme name="Benutzerdefiniert 1">
      <a:dk1>
        <a:srgbClr val="000000"/>
      </a:dk1>
      <a:lt1>
        <a:srgbClr val="FFFFFF"/>
      </a:lt1>
      <a:dk2>
        <a:srgbClr val="7F7F7F"/>
      </a:dk2>
      <a:lt2>
        <a:srgbClr val="FFFFFF"/>
      </a:lt2>
      <a:accent1>
        <a:srgbClr val="005F50"/>
      </a:accent1>
      <a:accent2>
        <a:srgbClr val="4A8246"/>
      </a:accent2>
      <a:accent3>
        <a:srgbClr val="00C6A7"/>
      </a:accent3>
      <a:accent4>
        <a:srgbClr val="F2F2F2"/>
      </a:accent4>
      <a:accent5>
        <a:srgbClr val="92D050"/>
      </a:accent5>
      <a:accent6>
        <a:srgbClr val="00322A"/>
      </a:accent6>
      <a:hlink>
        <a:srgbClr val="005F50"/>
      </a:hlink>
      <a:folHlink>
        <a:srgbClr val="00AC8F"/>
      </a:folHlink>
    </a:clrScheme>
    <a:fontScheme name="4">
      <a:majorFont>
        <a:latin typeface="Arial"/>
        <a:ea typeface=""/>
        <a:cs typeface="Arial"/>
      </a:majorFont>
      <a:minorFont>
        <a:latin typeface="Arial"/>
        <a:ea typeface=""/>
        <a:cs typeface="Arial"/>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4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4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4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4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4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4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4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4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4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4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4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UC Folgefolien ">
  <a:themeElements>
    <a:clrScheme name="Benutzerdefiniert 2">
      <a:dk1>
        <a:srgbClr val="000000"/>
      </a:dk1>
      <a:lt1>
        <a:srgbClr val="FFFFFF"/>
      </a:lt1>
      <a:dk2>
        <a:srgbClr val="7F7F7F"/>
      </a:dk2>
      <a:lt2>
        <a:srgbClr val="FFFFFF"/>
      </a:lt2>
      <a:accent1>
        <a:srgbClr val="005F50"/>
      </a:accent1>
      <a:accent2>
        <a:srgbClr val="4A8246"/>
      </a:accent2>
      <a:accent3>
        <a:srgbClr val="00C6A7"/>
      </a:accent3>
      <a:accent4>
        <a:srgbClr val="F2F2F2"/>
      </a:accent4>
      <a:accent5>
        <a:srgbClr val="92D050"/>
      </a:accent5>
      <a:accent6>
        <a:srgbClr val="00322A"/>
      </a:accent6>
      <a:hlink>
        <a:srgbClr val="005F50"/>
      </a:hlink>
      <a:folHlink>
        <a:srgbClr val="00AC8F"/>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INFO_KH</Template>
  <TotalTime>0</TotalTime>
  <Words>15101</Words>
  <Application>WPS Presentation</Application>
  <PresentationFormat>Breitbild</PresentationFormat>
  <Paragraphs>887</Paragraphs>
  <Slides>28</Slides>
  <Notes>27</Notes>
  <HiddenSlides>0</HiddenSlides>
  <MMClips>0</MMClips>
  <ScaleCrop>false</ScaleCrop>
  <HeadingPairs>
    <vt:vector size="6" baseType="variant">
      <vt:variant>
        <vt:lpstr>已用的字体</vt:lpstr>
      </vt:variant>
      <vt:variant>
        <vt:i4>11</vt:i4>
      </vt:variant>
      <vt:variant>
        <vt:lpstr>主题</vt:lpstr>
      </vt:variant>
      <vt:variant>
        <vt:i4>2</vt:i4>
      </vt:variant>
      <vt:variant>
        <vt:lpstr>幻灯片标题</vt:lpstr>
      </vt:variant>
      <vt:variant>
        <vt:i4>28</vt:i4>
      </vt:variant>
    </vt:vector>
  </HeadingPairs>
  <TitlesOfParts>
    <vt:vector size="41" baseType="lpstr">
      <vt:lpstr>Arial</vt:lpstr>
      <vt:lpstr>SimSun</vt:lpstr>
      <vt:lpstr>Wingdings</vt:lpstr>
      <vt:lpstr>InfoDispRegular-Roman</vt:lpstr>
      <vt:lpstr>Segoe Print</vt:lpstr>
      <vt:lpstr>Roboto</vt:lpstr>
      <vt:lpstr>Roboto Condensed</vt:lpstr>
      <vt:lpstr>Wide Latin</vt:lpstr>
      <vt:lpstr>Microsoft YaHei</vt:lpstr>
      <vt:lpstr>Arial Unicode MS</vt:lpstr>
      <vt:lpstr>Calibri</vt:lpstr>
      <vt:lpstr>TUC Startfolie</vt:lpstr>
      <vt:lpstr>TUC Folgefolien </vt:lpstr>
      <vt:lpstr>1. Meilenstein: Requirements</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Lucy Stahr</dc:creator>
  <cp:category>Corporate Design der TU Chemnitz</cp:category>
  <cp:lastModifiedBy>Seppn</cp:lastModifiedBy>
  <cp:revision>38</cp:revision>
  <cp:lastPrinted>2015-10-30T11:33:00Z</cp:lastPrinted>
  <dcterms:created xsi:type="dcterms:W3CDTF">2025-10-24T15:32:00Z</dcterms:created>
  <dcterms:modified xsi:type="dcterms:W3CDTF">2025-11-02T18:56:12Z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ED98C77A2D1F460EBE5017F7A0C605B1_12</vt:lpwstr>
  </property>
  <property fmtid="{D5CDD505-2E9C-101B-9397-08002B2CF9AE}" pid="3" name="KSOProductBuildVer">
    <vt:lpwstr>1031-12.2.0.23149</vt:lpwstr>
  </property>
</Properties>
</file>