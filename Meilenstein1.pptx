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59" r:id="rId1"/>
    <p:sldMasterId id="2147483699" r:id="rId2"/>
  </p:sldMasterIdLst>
  <p:notesMasterIdLst>
    <p:notesMasterId r:id="rId17"/>
  </p:notesMasterIdLst>
  <p:handoutMasterIdLst>
    <p:handoutMasterId r:id="rId18"/>
  </p:handoutMasterIdLst>
  <p:sldIdLst>
    <p:sldId id="309" r:id="rId3"/>
    <p:sldId id="345" r:id="rId4"/>
    <p:sldId id="342" r:id="rId5"/>
    <p:sldId id="347" r:id="rId6"/>
    <p:sldId id="311" r:id="rId7"/>
    <p:sldId id="348" r:id="rId8"/>
    <p:sldId id="349" r:id="rId9"/>
    <p:sldId id="335" r:id="rId10"/>
    <p:sldId id="346" r:id="rId11"/>
    <p:sldId id="344" r:id="rId12"/>
    <p:sldId id="350" r:id="rId13"/>
    <p:sldId id="351" r:id="rId14"/>
    <p:sldId id="352" r:id="rId15"/>
    <p:sldId id="353" r:id="rId16"/>
  </p:sldIdLst>
  <p:sldSz cx="12192000" cy="6858000"/>
  <p:notesSz cx="9928225" cy="6797675"/>
  <p:embeddedFontLst>
    <p:embeddedFont>
      <p:font typeface="Roboto" panose="02000000000000000000" pitchFamily="2" charset="0"/>
      <p:regular r:id="rId19"/>
      <p:bold r:id="rId20"/>
      <p:italic r:id="rId21"/>
      <p:boldItalic r:id="rId22"/>
    </p:embeddedFont>
  </p:embeddedFont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142" userDrawn="1">
          <p15:clr>
            <a:srgbClr val="A4A3A4"/>
          </p15:clr>
        </p15:guide>
        <p15:guide id="2" pos="312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800"/>
    <a:srgbClr val="E7EBF0"/>
    <a:srgbClr val="005F50"/>
    <a:srgbClr val="707070"/>
    <a:srgbClr val="006F5F"/>
    <a:srgbClr val="003E2F"/>
    <a:srgbClr val="E4B402"/>
    <a:srgbClr val="009EE3"/>
    <a:srgbClr val="51AE32"/>
    <a:srgbClr val="779A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668" autoAdjust="0"/>
    <p:restoredTop sz="97526" autoAdjust="0"/>
  </p:normalViewPr>
  <p:slideViewPr>
    <p:cSldViewPr snapToGrid="0">
      <p:cViewPr varScale="1">
        <p:scale>
          <a:sx n="109" d="100"/>
          <a:sy n="109" d="100"/>
        </p:scale>
        <p:origin x="120" y="13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73" d="100"/>
          <a:sy n="73" d="100"/>
        </p:scale>
        <p:origin x="-2430" y="-96"/>
      </p:cViewPr>
      <p:guideLst>
        <p:guide orient="horz" pos="2142"/>
        <p:guide pos="312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font" Target="fonts/font3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3314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622594" y="0"/>
            <a:ext cx="4303314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3A9E21-4981-413F-9BAB-A1BE42E0A624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6457410"/>
            <a:ext cx="4303314" cy="3402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622594" y="6457410"/>
            <a:ext cx="4303314" cy="3402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872BD-D2C1-4FAA-A740-0001980793A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77617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3314" cy="340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153" tIns="46077" rIns="92153" bIns="46077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2594" y="0"/>
            <a:ext cx="4303314" cy="340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153" tIns="46077" rIns="92153" bIns="46077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698750" y="509588"/>
            <a:ext cx="4530725" cy="25495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80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2360" y="3228190"/>
            <a:ext cx="7943508" cy="3059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153" tIns="46077" rIns="92153" bIns="460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880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56379"/>
            <a:ext cx="4303314" cy="340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153" tIns="46077" rIns="92153" bIns="46077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80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594" y="6456379"/>
            <a:ext cx="4303314" cy="340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153" tIns="46077" rIns="92153" bIns="46077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EB2B633-7BEC-49A7-B3BF-92E0C7E450E6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11696867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2B633-7BEC-49A7-B3BF-92E0C7E450E6}" type="slidenum">
              <a:rPr lang="de-DE" altLang="de-DE" smtClean="0"/>
              <a:pPr/>
              <a:t>1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8931961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2B633-7BEC-49A7-B3BF-92E0C7E450E6}" type="slidenum">
              <a:rPr lang="de-DE" altLang="de-DE" smtClean="0"/>
              <a:pPr/>
              <a:t>5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615399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F6DE4-5E23-AAF3-B3AE-75C782402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7708C4C-5020-F1D8-62D9-BA8A743A68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66B3D76-2090-329E-3D66-32540ED9D2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C27DF2D-BDAD-108A-5BE1-3229BE8BA7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2B633-7BEC-49A7-B3BF-92E0C7E450E6}" type="slidenum">
              <a:rPr lang="de-DE" altLang="de-DE" smtClean="0"/>
              <a:pPr/>
              <a:t>8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927403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egm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platzhalter 25"/>
          <p:cNvSpPr>
            <a:spLocks noGrp="1"/>
          </p:cNvSpPr>
          <p:nvPr>
            <p:ph type="title"/>
          </p:nvPr>
        </p:nvSpPr>
        <p:spPr>
          <a:xfrm>
            <a:off x="2387600" y="266700"/>
            <a:ext cx="9504363" cy="89376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defRPr b="1">
                <a:solidFill>
                  <a:schemeClr val="bg1"/>
                </a:solidFill>
                <a:effectLst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3" name="Textplatzhalter 7"/>
          <p:cNvSpPr>
            <a:spLocks noGrp="1"/>
          </p:cNvSpPr>
          <p:nvPr>
            <p:ph type="body" sz="quarter" idx="13"/>
          </p:nvPr>
        </p:nvSpPr>
        <p:spPr>
          <a:xfrm>
            <a:off x="334963" y="1776095"/>
            <a:ext cx="11557000" cy="44894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4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Bildplatzhalter 2"/>
          <p:cNvSpPr>
            <a:spLocks noGrp="1"/>
          </p:cNvSpPr>
          <p:nvPr>
            <p:ph type="pic" sz="quarter" idx="10"/>
          </p:nvPr>
        </p:nvSpPr>
        <p:spPr>
          <a:xfrm>
            <a:off x="0" y="2420938"/>
            <a:ext cx="12192000" cy="4096740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66264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1">
          <p15:clr>
            <a:srgbClr val="9FCC3B"/>
          </p15:clr>
        </p15:guide>
        <p15:guide id="2" orient="horz" pos="210">
          <p15:clr>
            <a:srgbClr val="9FCC3B"/>
          </p15:clr>
        </p15:guide>
        <p15:guide id="6" pos="211">
          <p15:clr>
            <a:srgbClr val="9FCC3B"/>
          </p15:clr>
        </p15:guide>
        <p15:guide id="7" orient="horz" pos="1162">
          <p15:clr>
            <a:srgbClr val="000000"/>
          </p15:clr>
        </p15:guide>
        <p15:guide id="8" orient="horz" pos="1525">
          <p15:clr>
            <a:srgbClr val="5ACB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elsber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platzhalter 25"/>
          <p:cNvSpPr>
            <a:spLocks noGrp="1"/>
          </p:cNvSpPr>
          <p:nvPr>
            <p:ph type="title"/>
          </p:nvPr>
        </p:nvSpPr>
        <p:spPr>
          <a:xfrm>
            <a:off x="2387600" y="266700"/>
            <a:ext cx="9504362" cy="89376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defRPr b="1">
                <a:solidFill>
                  <a:schemeClr val="bg1"/>
                </a:solidFill>
                <a:effectLst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3" name="Textplatzhalter 7"/>
          <p:cNvSpPr>
            <a:spLocks noGrp="1"/>
          </p:cNvSpPr>
          <p:nvPr>
            <p:ph type="body" sz="quarter" idx="13"/>
          </p:nvPr>
        </p:nvSpPr>
        <p:spPr>
          <a:xfrm>
            <a:off x="334963" y="1776095"/>
            <a:ext cx="11557000" cy="44894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4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Bildplatzhalter 2"/>
          <p:cNvSpPr>
            <a:spLocks noGrp="1"/>
          </p:cNvSpPr>
          <p:nvPr>
            <p:ph type="pic" sz="quarter" idx="10"/>
          </p:nvPr>
        </p:nvSpPr>
        <p:spPr>
          <a:xfrm>
            <a:off x="0" y="2420938"/>
            <a:ext cx="2711450" cy="2440622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5" name="Bildplatzhalter 2"/>
          <p:cNvSpPr>
            <a:spLocks noGrp="1"/>
          </p:cNvSpPr>
          <p:nvPr>
            <p:ph type="pic" sz="quarter" idx="14"/>
          </p:nvPr>
        </p:nvSpPr>
        <p:spPr>
          <a:xfrm>
            <a:off x="2711450" y="2420938"/>
            <a:ext cx="5225098" cy="2440622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6" name="Bildplatzhalter 2"/>
          <p:cNvSpPr>
            <a:spLocks noGrp="1"/>
          </p:cNvSpPr>
          <p:nvPr>
            <p:ph type="pic" sz="quarter" idx="15"/>
          </p:nvPr>
        </p:nvSpPr>
        <p:spPr>
          <a:xfrm>
            <a:off x="7940040" y="2420938"/>
            <a:ext cx="4251960" cy="2440622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9" name="Bildplatzhalter 4"/>
          <p:cNvSpPr>
            <a:spLocks noGrp="1"/>
          </p:cNvSpPr>
          <p:nvPr>
            <p:ph type="pic" sz="quarter" idx="16" hasCustomPrompt="1"/>
          </p:nvPr>
        </p:nvSpPr>
        <p:spPr>
          <a:xfrm>
            <a:off x="334963" y="5200968"/>
            <a:ext cx="1404937" cy="9998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buNone/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de-DE" dirty="0"/>
              <a:t>Logo</a:t>
            </a:r>
          </a:p>
        </p:txBody>
      </p:sp>
      <p:sp>
        <p:nvSpPr>
          <p:cNvPr id="7" name="Textplatzhalter 7"/>
          <p:cNvSpPr>
            <a:spLocks noGrp="1"/>
          </p:cNvSpPr>
          <p:nvPr>
            <p:ph type="body" sz="quarter" idx="11"/>
          </p:nvPr>
        </p:nvSpPr>
        <p:spPr>
          <a:xfrm>
            <a:off x="2387601" y="5139267"/>
            <a:ext cx="9504362" cy="106150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4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479550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orient="horz" pos="3067" userDrawn="1">
          <p15:clr>
            <a:srgbClr val="5ACBF0"/>
          </p15:clr>
        </p15:guide>
        <p15:guide id="1" orient="horz" pos="731">
          <p15:clr>
            <a:srgbClr val="9FCC3B"/>
          </p15:clr>
        </p15:guide>
        <p15:guide id="2" orient="horz" pos="210">
          <p15:clr>
            <a:srgbClr val="9FCC3B"/>
          </p15:clr>
        </p15:guide>
        <p15:guide id="6" pos="211">
          <p15:clr>
            <a:srgbClr val="9FCC3B"/>
          </p15:clr>
        </p15:guide>
        <p15:guide id="7" orient="horz" pos="1162">
          <p15:clr>
            <a:srgbClr val="000000"/>
          </p15:clr>
        </p15:guide>
        <p15:guide id="8" orient="horz" pos="1525">
          <p15:clr>
            <a:srgbClr val="5ACBF0"/>
          </p15:clr>
        </p15:guide>
        <p15:guide id="9" orient="horz" pos="3271" userDrawn="1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ös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platzhalter 25"/>
          <p:cNvSpPr>
            <a:spLocks noGrp="1"/>
          </p:cNvSpPr>
          <p:nvPr>
            <p:ph type="title"/>
          </p:nvPr>
        </p:nvSpPr>
        <p:spPr>
          <a:xfrm>
            <a:off x="2387600" y="266700"/>
            <a:ext cx="9504362" cy="89376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defRPr b="1">
                <a:solidFill>
                  <a:schemeClr val="bg1"/>
                </a:solidFill>
                <a:effectLst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1" hasCustomPrompt="1"/>
          </p:nvPr>
        </p:nvSpPr>
        <p:spPr>
          <a:xfrm>
            <a:off x="334963" y="1844675"/>
            <a:ext cx="1404937" cy="138112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buNone/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de-DE" dirty="0"/>
              <a:t>Logo</a:t>
            </a:r>
          </a:p>
        </p:txBody>
      </p:sp>
      <p:sp>
        <p:nvSpPr>
          <p:cNvPr id="13" name="Textplatzhalter 7"/>
          <p:cNvSpPr>
            <a:spLocks noGrp="1"/>
          </p:cNvSpPr>
          <p:nvPr>
            <p:ph type="body" sz="quarter" idx="13"/>
          </p:nvPr>
        </p:nvSpPr>
        <p:spPr>
          <a:xfrm>
            <a:off x="2711449" y="1775461"/>
            <a:ext cx="9180513" cy="51816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4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Bildplatzhalter 2"/>
          <p:cNvSpPr>
            <a:spLocks noGrp="1"/>
          </p:cNvSpPr>
          <p:nvPr>
            <p:ph type="pic" sz="quarter" idx="10"/>
          </p:nvPr>
        </p:nvSpPr>
        <p:spPr>
          <a:xfrm>
            <a:off x="2711450" y="2420938"/>
            <a:ext cx="9480550" cy="4096740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32815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1">
          <p15:clr>
            <a:srgbClr val="9FCC3B"/>
          </p15:clr>
        </p15:guide>
        <p15:guide id="2" orient="horz" pos="210">
          <p15:clr>
            <a:srgbClr val="9FCC3B"/>
          </p15:clr>
        </p15:guide>
        <p15:guide id="6" pos="211">
          <p15:clr>
            <a:srgbClr val="9FCC3B"/>
          </p15:clr>
        </p15:guide>
        <p15:guide id="7" orient="horz" pos="1162">
          <p15:clr>
            <a:srgbClr val="000000"/>
          </p15:clr>
        </p15:guide>
        <p15:guide id="8" orient="horz" pos="1525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ßber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platzhalter 25"/>
          <p:cNvSpPr>
            <a:spLocks noGrp="1"/>
          </p:cNvSpPr>
          <p:nvPr>
            <p:ph type="title"/>
          </p:nvPr>
        </p:nvSpPr>
        <p:spPr>
          <a:xfrm>
            <a:off x="2387600" y="266700"/>
            <a:ext cx="9504363" cy="89376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defRPr b="1">
                <a:solidFill>
                  <a:schemeClr val="bg1"/>
                </a:solidFill>
                <a:effectLst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Bildplatzhalter 2"/>
          <p:cNvSpPr>
            <a:spLocks noGrp="1"/>
          </p:cNvSpPr>
          <p:nvPr>
            <p:ph type="pic" sz="quarter" idx="14"/>
          </p:nvPr>
        </p:nvSpPr>
        <p:spPr>
          <a:xfrm>
            <a:off x="0" y="1484313"/>
            <a:ext cx="3169920" cy="3186747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4" name="Bildplatzhalter 2"/>
          <p:cNvSpPr>
            <a:spLocks noGrp="1"/>
          </p:cNvSpPr>
          <p:nvPr>
            <p:ph type="pic" sz="quarter" idx="10"/>
          </p:nvPr>
        </p:nvSpPr>
        <p:spPr>
          <a:xfrm>
            <a:off x="3177540" y="1484313"/>
            <a:ext cx="4930140" cy="3186747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" name="Bildplatzhalter 2"/>
          <p:cNvSpPr>
            <a:spLocks noGrp="1"/>
          </p:cNvSpPr>
          <p:nvPr>
            <p:ph type="pic" sz="quarter" idx="15"/>
          </p:nvPr>
        </p:nvSpPr>
        <p:spPr>
          <a:xfrm>
            <a:off x="8115300" y="1484313"/>
            <a:ext cx="4076700" cy="3186747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3" name="Textplatzhalter 7"/>
          <p:cNvSpPr>
            <a:spLocks noGrp="1"/>
          </p:cNvSpPr>
          <p:nvPr>
            <p:ph type="body" sz="quarter" idx="13"/>
          </p:nvPr>
        </p:nvSpPr>
        <p:spPr>
          <a:xfrm>
            <a:off x="334963" y="4938395"/>
            <a:ext cx="11557000" cy="12623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4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399534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3749" userDrawn="1">
          <p15:clr>
            <a:srgbClr val="5ACBF0"/>
          </p15:clr>
        </p15:guide>
        <p15:guide id="1" orient="horz" pos="731">
          <p15:clr>
            <a:srgbClr val="9FCC3B"/>
          </p15:clr>
        </p15:guide>
        <p15:guide id="2" orient="horz" pos="210">
          <p15:clr>
            <a:srgbClr val="9FCC3B"/>
          </p15:clr>
        </p15:guide>
        <p15:guide id="6" pos="211">
          <p15:clr>
            <a:srgbClr val="9FCC3B"/>
          </p15:clr>
        </p15:guide>
        <p15:guide id="7" orient="horz" pos="935" userDrawn="1">
          <p15:clr>
            <a:srgbClr val="000000"/>
          </p15:clr>
        </p15:guide>
        <p15:guide id="8" orient="horz" pos="1525">
          <p15:clr>
            <a:srgbClr val="5ACBF0"/>
          </p15:clr>
        </p15:guide>
        <p15:guide id="9" pos="3931" userDrawn="1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ichenh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3"/>
          <p:cNvSpPr>
            <a:spLocks noGrp="1"/>
          </p:cNvSpPr>
          <p:nvPr>
            <p:ph type="title" hasCustomPrompt="1"/>
          </p:nvPr>
        </p:nvSpPr>
        <p:spPr>
          <a:xfrm>
            <a:off x="1343025" y="152400"/>
            <a:ext cx="10656888" cy="4683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28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92088" y="908050"/>
            <a:ext cx="11807825" cy="92837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4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7" name="Textplatzhalter 7"/>
          <p:cNvSpPr>
            <a:spLocks noGrp="1"/>
          </p:cNvSpPr>
          <p:nvPr>
            <p:ph type="body" sz="quarter" idx="11" hasCustomPrompt="1"/>
          </p:nvPr>
        </p:nvSpPr>
        <p:spPr>
          <a:xfrm>
            <a:off x="192088" y="1996440"/>
            <a:ext cx="11807825" cy="434879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333981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ub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3"/>
          <p:cNvSpPr>
            <a:spLocks noGrp="1"/>
          </p:cNvSpPr>
          <p:nvPr>
            <p:ph type="title" hasCustomPrompt="1"/>
          </p:nvPr>
        </p:nvSpPr>
        <p:spPr>
          <a:xfrm>
            <a:off x="1343025" y="152400"/>
            <a:ext cx="10656888" cy="4683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28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92088" y="908050"/>
            <a:ext cx="11807825" cy="92837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4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5" name="Bildplatzhalter 2"/>
          <p:cNvSpPr>
            <a:spLocks noGrp="1"/>
          </p:cNvSpPr>
          <p:nvPr>
            <p:ph type="pic" sz="quarter" idx="10"/>
          </p:nvPr>
        </p:nvSpPr>
        <p:spPr>
          <a:xfrm>
            <a:off x="192089" y="2060575"/>
            <a:ext cx="5795962" cy="4284663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de-DE" dirty="0"/>
              <a:t>Bild durch Klicken auf Symbol hinzufügen</a:t>
            </a:r>
          </a:p>
        </p:txBody>
      </p:sp>
      <p:sp>
        <p:nvSpPr>
          <p:cNvPr id="7" name="Textplatzhalter 7"/>
          <p:cNvSpPr>
            <a:spLocks noGrp="1"/>
          </p:cNvSpPr>
          <p:nvPr>
            <p:ph type="body" sz="quarter" idx="11"/>
          </p:nvPr>
        </p:nvSpPr>
        <p:spPr>
          <a:xfrm>
            <a:off x="6203950" y="2060574"/>
            <a:ext cx="5795963" cy="42846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4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0943677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72" userDrawn="1">
          <p15:clr>
            <a:srgbClr val="5ACBF0"/>
          </p15:clr>
        </p15:guide>
        <p15:guide id="2" pos="3908" userDrawn="1">
          <p15:clr>
            <a:srgbClr val="5ACBF0"/>
          </p15:clr>
        </p15:guide>
        <p15:guide id="3" orient="horz" pos="1298" userDrawn="1">
          <p15:clr>
            <a:srgbClr val="5ACBF0"/>
          </p15:clr>
        </p15:guide>
        <p15:guide id="4" orient="horz" pos="1162" userDrawn="1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sied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3"/>
          <p:cNvSpPr>
            <a:spLocks noGrp="1"/>
          </p:cNvSpPr>
          <p:nvPr>
            <p:ph type="title" hasCustomPrompt="1"/>
          </p:nvPr>
        </p:nvSpPr>
        <p:spPr>
          <a:xfrm>
            <a:off x="1343025" y="152400"/>
            <a:ext cx="10656888" cy="4683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28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92088" y="908050"/>
            <a:ext cx="11807825" cy="92837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4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5" name="Bildplatzhalter 2"/>
          <p:cNvSpPr>
            <a:spLocks noGrp="1"/>
          </p:cNvSpPr>
          <p:nvPr>
            <p:ph type="pic" sz="quarter" idx="10"/>
          </p:nvPr>
        </p:nvSpPr>
        <p:spPr>
          <a:xfrm>
            <a:off x="192089" y="2060575"/>
            <a:ext cx="5795962" cy="2366645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de-DE" dirty="0"/>
              <a:t>Bild durch Klicken auf Symbol hinzufügen</a:t>
            </a:r>
          </a:p>
        </p:txBody>
      </p:sp>
      <p:sp>
        <p:nvSpPr>
          <p:cNvPr id="7" name="Textplatzhalter 7"/>
          <p:cNvSpPr>
            <a:spLocks noGrp="1"/>
          </p:cNvSpPr>
          <p:nvPr>
            <p:ph type="body" sz="quarter" idx="11"/>
          </p:nvPr>
        </p:nvSpPr>
        <p:spPr>
          <a:xfrm>
            <a:off x="192088" y="4618672"/>
            <a:ext cx="5795962" cy="172656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8" name="Bildplatzhalter 2"/>
          <p:cNvSpPr>
            <a:spLocks noGrp="1"/>
          </p:cNvSpPr>
          <p:nvPr>
            <p:ph type="pic" sz="quarter" idx="15"/>
          </p:nvPr>
        </p:nvSpPr>
        <p:spPr>
          <a:xfrm>
            <a:off x="6203951" y="2060575"/>
            <a:ext cx="5795962" cy="2366645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de-DE" dirty="0"/>
              <a:t>Bild durch Klicken auf Symbol hinzufügen</a:t>
            </a:r>
          </a:p>
        </p:txBody>
      </p:sp>
      <p:sp>
        <p:nvSpPr>
          <p:cNvPr id="6" name="Textplatzhalter 7"/>
          <p:cNvSpPr>
            <a:spLocks noGrp="1"/>
          </p:cNvSpPr>
          <p:nvPr>
            <p:ph type="body" sz="quarter" idx="14" hasCustomPrompt="1"/>
          </p:nvPr>
        </p:nvSpPr>
        <p:spPr>
          <a:xfrm>
            <a:off x="6203950" y="4618672"/>
            <a:ext cx="5795962" cy="172656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</p:txBody>
      </p:sp>
    </p:spTree>
    <p:extLst>
      <p:ext uri="{BB962C8B-B14F-4D97-AF65-F5344CB8AC3E}">
        <p14:creationId xmlns:p14="http://schemas.microsoft.com/office/powerpoint/2010/main" val="5824327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72">
          <p15:clr>
            <a:srgbClr val="5ACBF0"/>
          </p15:clr>
        </p15:guide>
        <p15:guide id="2" pos="3908">
          <p15:clr>
            <a:srgbClr val="5ACBF0"/>
          </p15:clr>
        </p15:guide>
        <p15:guide id="3" orient="horz" pos="1298">
          <p15:clr>
            <a:srgbClr val="5ACBF0"/>
          </p15:clr>
        </p15:guide>
        <p15:guide id="4" orient="horz" pos="1162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abenste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3"/>
          <p:cNvSpPr>
            <a:spLocks noGrp="1"/>
          </p:cNvSpPr>
          <p:nvPr>
            <p:ph type="title" hasCustomPrompt="1"/>
          </p:nvPr>
        </p:nvSpPr>
        <p:spPr>
          <a:xfrm>
            <a:off x="1343025" y="152400"/>
            <a:ext cx="10656888" cy="4683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28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92088" y="908050"/>
            <a:ext cx="11807825" cy="92837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4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5" name="Bildplatzhalter 2"/>
          <p:cNvSpPr>
            <a:spLocks noGrp="1"/>
          </p:cNvSpPr>
          <p:nvPr>
            <p:ph type="pic" sz="quarter" idx="10"/>
          </p:nvPr>
        </p:nvSpPr>
        <p:spPr>
          <a:xfrm>
            <a:off x="192089" y="2060575"/>
            <a:ext cx="3708399" cy="4284663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de-DE" dirty="0"/>
              <a:t>Bild durch Klicken auf Symbol hinzufügen</a:t>
            </a:r>
          </a:p>
        </p:txBody>
      </p:sp>
      <p:sp>
        <p:nvSpPr>
          <p:cNvPr id="11" name="Textplatzhalter 7"/>
          <p:cNvSpPr>
            <a:spLocks noGrp="1"/>
          </p:cNvSpPr>
          <p:nvPr>
            <p:ph type="body" sz="quarter" idx="11" hasCustomPrompt="1"/>
          </p:nvPr>
        </p:nvSpPr>
        <p:spPr>
          <a:xfrm>
            <a:off x="4116387" y="2060574"/>
            <a:ext cx="7883525" cy="42846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493849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57" userDrawn="1">
          <p15:clr>
            <a:srgbClr val="5ACBF0"/>
          </p15:clr>
        </p15:guide>
        <p15:guide id="2" pos="2593" userDrawn="1">
          <p15:clr>
            <a:srgbClr val="5ACBF0"/>
          </p15:clr>
        </p15:guide>
        <p15:guide id="3" orient="horz" pos="1298">
          <p15:clr>
            <a:srgbClr val="5ACBF0"/>
          </p15:clr>
        </p15:guide>
        <p15:guide id="4" orient="horz" pos="1162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rfenschla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 hasCustomPrompt="1"/>
          </p:nvPr>
        </p:nvSpPr>
        <p:spPr>
          <a:xfrm>
            <a:off x="1343025" y="152400"/>
            <a:ext cx="10656888" cy="4683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28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6" name="Bildplatzhalter 4"/>
          <p:cNvSpPr>
            <a:spLocks noGrp="1"/>
          </p:cNvSpPr>
          <p:nvPr>
            <p:ph type="pic" sz="quarter" idx="12" hasCustomPrompt="1"/>
          </p:nvPr>
        </p:nvSpPr>
        <p:spPr>
          <a:xfrm>
            <a:off x="192088" y="908050"/>
            <a:ext cx="790576" cy="92837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buNone/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de-DE" dirty="0"/>
              <a:t>Logo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58925" y="908050"/>
            <a:ext cx="10440988" cy="92837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4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1"/>
          </p:nvPr>
        </p:nvSpPr>
        <p:spPr>
          <a:xfrm>
            <a:off x="1558925" y="1996440"/>
            <a:ext cx="10440988" cy="434879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4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072985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blen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3"/>
          <p:cNvSpPr>
            <a:spLocks noGrp="1"/>
          </p:cNvSpPr>
          <p:nvPr>
            <p:ph type="title" hasCustomPrompt="1"/>
          </p:nvPr>
        </p:nvSpPr>
        <p:spPr>
          <a:xfrm>
            <a:off x="1343025" y="152400"/>
            <a:ext cx="10656888" cy="4683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28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92088" y="908050"/>
            <a:ext cx="11807825" cy="46831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4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2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192088" y="1376363"/>
            <a:ext cx="3779837" cy="1907857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de-DE" dirty="0"/>
              <a:t>Bild durch Klicken auf Symbol hinzufügen</a:t>
            </a:r>
          </a:p>
        </p:txBody>
      </p:sp>
      <p:sp>
        <p:nvSpPr>
          <p:cNvPr id="18" name="Textplatzhalter 7"/>
          <p:cNvSpPr>
            <a:spLocks noGrp="1"/>
          </p:cNvSpPr>
          <p:nvPr>
            <p:ph type="body" sz="quarter" idx="15" hasCustomPrompt="1"/>
          </p:nvPr>
        </p:nvSpPr>
        <p:spPr>
          <a:xfrm>
            <a:off x="192088" y="3497580"/>
            <a:ext cx="3779837" cy="284765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4" name="Bildplatzhalter 2"/>
          <p:cNvSpPr>
            <a:spLocks noGrp="1"/>
          </p:cNvSpPr>
          <p:nvPr>
            <p:ph type="pic" sz="quarter" idx="18"/>
          </p:nvPr>
        </p:nvSpPr>
        <p:spPr>
          <a:xfrm>
            <a:off x="4151784" y="1376363"/>
            <a:ext cx="3852391" cy="1907857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de-DE" dirty="0"/>
              <a:t>Bild durch Klicken auf Symbol hinzufügen</a:t>
            </a:r>
          </a:p>
        </p:txBody>
      </p:sp>
      <p:sp>
        <p:nvSpPr>
          <p:cNvPr id="21" name="Textplatzhalter 7"/>
          <p:cNvSpPr>
            <a:spLocks noGrp="1"/>
          </p:cNvSpPr>
          <p:nvPr>
            <p:ph type="body" sz="quarter" idx="16" hasCustomPrompt="1"/>
          </p:nvPr>
        </p:nvSpPr>
        <p:spPr>
          <a:xfrm>
            <a:off x="4151313" y="3497580"/>
            <a:ext cx="3852862" cy="284765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5" name="Bildplatzhalter 2"/>
          <p:cNvSpPr>
            <a:spLocks noGrp="1"/>
          </p:cNvSpPr>
          <p:nvPr>
            <p:ph type="pic" sz="quarter" idx="19"/>
          </p:nvPr>
        </p:nvSpPr>
        <p:spPr>
          <a:xfrm>
            <a:off x="8184232" y="1376363"/>
            <a:ext cx="3815681" cy="1907857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de-DE" dirty="0"/>
              <a:t>Bild durch Klicken auf Symbol hinzufügen</a:t>
            </a:r>
          </a:p>
        </p:txBody>
      </p:sp>
      <p:sp>
        <p:nvSpPr>
          <p:cNvPr id="22" name="Textplatzhalter 7"/>
          <p:cNvSpPr>
            <a:spLocks noGrp="1"/>
          </p:cNvSpPr>
          <p:nvPr>
            <p:ph type="body" sz="quarter" idx="17" hasCustomPrompt="1"/>
          </p:nvPr>
        </p:nvSpPr>
        <p:spPr>
          <a:xfrm>
            <a:off x="8183563" y="3497580"/>
            <a:ext cx="3816350" cy="284765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42661223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5042" userDrawn="1">
          <p15:clr>
            <a:srgbClr val="5ACBF0"/>
          </p15:clr>
        </p15:guide>
        <p15:guide id="1" pos="2502" userDrawn="1">
          <p15:clr>
            <a:srgbClr val="5ACBF0"/>
          </p15:clr>
        </p15:guide>
        <p15:guide id="2" pos="2615" userDrawn="1">
          <p15:clr>
            <a:srgbClr val="5ACBF0"/>
          </p15:clr>
        </p15:guide>
        <p15:guide id="3" orient="horz" pos="867" userDrawn="1">
          <p15:clr>
            <a:srgbClr val="5ACBF0"/>
          </p15:clr>
        </p15:guide>
        <p15:guide id="4" orient="horz" pos="754" userDrawn="1">
          <p15:clr>
            <a:srgbClr val="5ACBF0"/>
          </p15:clr>
        </p15:guide>
        <p15:guide id="5" pos="5155" userDrawn="1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7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>
          <a:xfrm>
            <a:off x="0" y="0"/>
            <a:ext cx="12192000" cy="151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4" name="Gerader Verbinder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2061369" y="333375"/>
            <a:ext cx="0" cy="82708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6525344"/>
            <a:ext cx="12192000" cy="1"/>
          </a:xfrm>
          <a:prstGeom prst="line">
            <a:avLst/>
          </a:prstGeom>
          <a:ln w="12700">
            <a:solidFill>
              <a:schemeClr val="tx1"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4"/>
          <p:cNvSpPr txBox="1">
            <a:spLocks noChangeArrowheads="1"/>
          </p:cNvSpPr>
          <p:nvPr userDrawn="1"/>
        </p:nvSpPr>
        <p:spPr bwMode="auto">
          <a:xfrm>
            <a:off x="192089" y="6525345"/>
            <a:ext cx="5759896" cy="33424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 dirty="0" smtClean="0">
                <a:solidFill>
                  <a:schemeClr val="tx1"/>
                </a:solidFill>
                <a:latin typeface="InfoDispRegular-Roman" pitchFamily="2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de-DE" sz="1400" dirty="0">
                <a:latin typeface="Roboto" panose="02000000000000000000" pitchFamily="2" charset="0"/>
                <a:ea typeface="Roboto" panose="02000000000000000000" pitchFamily="2" charset="0"/>
              </a:rPr>
              <a:t>Chemnitz</a:t>
            </a:r>
            <a:r>
              <a:rPr lang="de-DE" sz="14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 </a:t>
            </a:r>
            <a:r>
              <a:rPr lang="de-DE" sz="1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∙ 05</a:t>
            </a:r>
            <a:r>
              <a:rPr lang="de-DE" sz="1400">
                <a:latin typeface="Roboto" panose="02000000000000000000" pitchFamily="2" charset="0"/>
                <a:ea typeface="Roboto" panose="02000000000000000000" pitchFamily="2" charset="0"/>
              </a:rPr>
              <a:t>. November</a:t>
            </a:r>
            <a:r>
              <a:rPr lang="de-DE" sz="1400" baseline="0">
                <a:latin typeface="Roboto" panose="02000000000000000000" pitchFamily="2" charset="0"/>
                <a:ea typeface="Roboto" panose="02000000000000000000" pitchFamily="2" charset="0"/>
              </a:rPr>
              <a:t> 2025</a:t>
            </a:r>
            <a:r>
              <a:rPr lang="de-DE" sz="1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 ∙ Softwareengineering WS25/26 </a:t>
            </a:r>
            <a:endParaRPr lang="de-DE" sz="1400" kern="12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Arial" charset="0"/>
            </a:endParaRPr>
          </a:p>
        </p:txBody>
      </p:sp>
      <p:sp>
        <p:nvSpPr>
          <p:cNvPr id="18" name="Rectangle 5"/>
          <p:cNvSpPr txBox="1">
            <a:spLocks noChangeArrowheads="1"/>
          </p:cNvSpPr>
          <p:nvPr userDrawn="1"/>
        </p:nvSpPr>
        <p:spPr bwMode="auto">
          <a:xfrm>
            <a:off x="8252460" y="6525345"/>
            <a:ext cx="3747453" cy="33424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InfoDispRegular-Roman" pitchFamily="2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de-DE" sz="1400" dirty="0">
                <a:latin typeface="Roboto" panose="02000000000000000000" pitchFamily="2" charset="0"/>
                <a:ea typeface="Roboto" panose="02000000000000000000" pitchFamily="2" charset="0"/>
              </a:rPr>
              <a:t>www.tu-chemnitz.de</a:t>
            </a:r>
          </a:p>
        </p:txBody>
      </p:sp>
      <p:pic>
        <p:nvPicPr>
          <p:cNvPr id="3" name="Grafik 2" title="Logo der TU Chemnitz mit Bezug zur Kulturhauptstadt 2025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333375"/>
            <a:ext cx="1388034" cy="82708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753" r:id="rId2"/>
    <p:sldLayoutId id="2147483751" r:id="rId3"/>
    <p:sldLayoutId id="2147483752" r:id="rId4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0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11">
          <p15:clr>
            <a:srgbClr val="000000"/>
          </p15:clr>
        </p15:guide>
        <p15:guide id="2" orient="horz" pos="210">
          <p15:clr>
            <a:srgbClr val="9FCC3B"/>
          </p15:clr>
        </p15:guide>
        <p15:guide id="3" orient="horz" pos="731">
          <p15:clr>
            <a:srgbClr val="9FCC3B"/>
          </p15:clr>
        </p15:guide>
        <p15:guide id="4" pos="1300" userDrawn="1">
          <p15:clr>
            <a:srgbClr val="9FCC3B"/>
          </p15:clr>
        </p15:guide>
        <p15:guide id="5" pos="1096" userDrawn="1">
          <p15:clr>
            <a:srgbClr val="9FCC3B"/>
          </p15:clr>
        </p15:guide>
        <p15:guide id="6" pos="1504" userDrawn="1">
          <p15:clr>
            <a:srgbClr val="9FCC3B"/>
          </p15:clr>
        </p15:guide>
        <p15:guide id="7" pos="7491">
          <p15:clr>
            <a:srgbClr val="000000"/>
          </p15:clr>
        </p15:guide>
        <p15:guide id="8" orient="horz" pos="3906">
          <p15:clr>
            <a:srgbClr val="000000"/>
          </p15:clr>
        </p15:guide>
        <p15:guide id="9" orient="horz" pos="1162">
          <p15:clr>
            <a:srgbClr val="00000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>
          <a:xfrm>
            <a:off x="0" y="274"/>
            <a:ext cx="12192000" cy="764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" name="Gerader Verbinder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166868" y="152713"/>
            <a:ext cx="0" cy="468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6525344"/>
            <a:ext cx="12192000" cy="0"/>
          </a:xfrm>
          <a:prstGeom prst="line">
            <a:avLst/>
          </a:prstGeom>
          <a:ln w="12700">
            <a:solidFill>
              <a:schemeClr val="tx1"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5"/>
          <p:cNvSpPr txBox="1">
            <a:spLocks noChangeArrowheads="1"/>
          </p:cNvSpPr>
          <p:nvPr userDrawn="1"/>
        </p:nvSpPr>
        <p:spPr bwMode="auto">
          <a:xfrm>
            <a:off x="8252460" y="6525345"/>
            <a:ext cx="3747453" cy="33424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InfoDispRegular-Roman" pitchFamily="2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de-DE" sz="1400" dirty="0">
                <a:latin typeface="Roboto" panose="02000000000000000000" pitchFamily="2" charset="0"/>
                <a:ea typeface="Roboto" panose="02000000000000000000" pitchFamily="2" charset="0"/>
              </a:rPr>
              <a:t>www.tu-chemnitz.de</a:t>
            </a:r>
          </a:p>
        </p:txBody>
      </p:sp>
      <p:sp>
        <p:nvSpPr>
          <p:cNvPr id="34" name="Fußzeilenplatzhalter 4"/>
          <p:cNvSpPr txBox="1">
            <a:spLocks/>
          </p:cNvSpPr>
          <p:nvPr userDrawn="1"/>
        </p:nvSpPr>
        <p:spPr>
          <a:xfrm>
            <a:off x="4655840" y="6526933"/>
            <a:ext cx="5593060" cy="332656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000" kern="1200" dirty="0" smtClean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fld id="{72C5D026-0A5E-414E-BDD7-AEAAC7E56A8F}" type="slidenum">
              <a:rPr lang="de-DE" sz="1400" smtClean="0">
                <a:latin typeface="Roboto" panose="02000000000000000000" pitchFamily="2" charset="0"/>
                <a:ea typeface="Roboto" panose="02000000000000000000" pitchFamily="2" charset="0"/>
              </a:rPr>
              <a:pPr algn="ctr">
                <a:defRPr/>
              </a:pPr>
              <a:t>‹Nr.›</a:t>
            </a:fld>
            <a:endParaRPr lang="de-DE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3" name="Rectangle 4"/>
          <p:cNvSpPr txBox="1">
            <a:spLocks noChangeArrowheads="1"/>
          </p:cNvSpPr>
          <p:nvPr userDrawn="1"/>
        </p:nvSpPr>
        <p:spPr bwMode="auto">
          <a:xfrm>
            <a:off x="192089" y="6525345"/>
            <a:ext cx="5759896" cy="33424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 dirty="0" smtClean="0">
                <a:solidFill>
                  <a:schemeClr val="tx1"/>
                </a:solidFill>
                <a:latin typeface="InfoDispRegular-Roman" pitchFamily="2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de-DE" sz="1400">
                <a:latin typeface="Roboto" panose="02000000000000000000" pitchFamily="2" charset="0"/>
                <a:ea typeface="Roboto" panose="02000000000000000000" pitchFamily="2" charset="0"/>
              </a:rPr>
              <a:t>Chemnitz</a:t>
            </a:r>
            <a:r>
              <a:rPr lang="de-DE" sz="1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 ∙ 05</a:t>
            </a:r>
            <a:r>
              <a:rPr lang="de-DE" sz="1400">
                <a:latin typeface="Roboto" panose="02000000000000000000" pitchFamily="2" charset="0"/>
                <a:ea typeface="Roboto" panose="02000000000000000000" pitchFamily="2" charset="0"/>
              </a:rPr>
              <a:t>. November</a:t>
            </a:r>
            <a:r>
              <a:rPr lang="de-DE" sz="1400" baseline="0">
                <a:latin typeface="Roboto" panose="02000000000000000000" pitchFamily="2" charset="0"/>
                <a:ea typeface="Roboto" panose="02000000000000000000" pitchFamily="2" charset="0"/>
              </a:rPr>
              <a:t> 2025</a:t>
            </a:r>
            <a:r>
              <a:rPr lang="de-DE" sz="1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 ∙ Softwareengineering WS25/26 </a:t>
            </a:r>
            <a:endParaRPr lang="de-DE" sz="1400" kern="12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Arial" charset="0"/>
            </a:endParaRPr>
          </a:p>
        </p:txBody>
      </p:sp>
      <p:pic>
        <p:nvPicPr>
          <p:cNvPr id="10" name="Grafik 9" title="Logo der TU Chemnitz mit Bezug zur Kulturhauptstadt 2025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9" y="152400"/>
            <a:ext cx="785406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935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4" r:id="rId2"/>
    <p:sldLayoutId id="2147483755" r:id="rId3"/>
    <p:sldLayoutId id="2147483756" r:id="rId4"/>
    <p:sldLayoutId id="2147483719" r:id="rId5"/>
    <p:sldLayoutId id="2147483757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600" b="1" kern="1200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6" userDrawn="1">
          <p15:clr>
            <a:srgbClr val="9FCC3B"/>
          </p15:clr>
        </p15:guide>
        <p15:guide id="2" orient="horz" pos="391" userDrawn="1">
          <p15:clr>
            <a:srgbClr val="9FCC3B"/>
          </p15:clr>
        </p15:guide>
        <p15:guide id="3" pos="846" userDrawn="1">
          <p15:clr>
            <a:srgbClr val="9FCC3B"/>
          </p15:clr>
        </p15:guide>
        <p15:guide id="4" pos="121" userDrawn="1">
          <p15:clr>
            <a:srgbClr val="000000"/>
          </p15:clr>
        </p15:guide>
        <p15:guide id="5" pos="733" userDrawn="1">
          <p15:clr>
            <a:srgbClr val="9FCC3B"/>
          </p15:clr>
        </p15:guide>
        <p15:guide id="6" pos="619" userDrawn="1">
          <p15:clr>
            <a:srgbClr val="9FCC3B"/>
          </p15:clr>
        </p15:guide>
        <p15:guide id="7" pos="7559" userDrawn="1">
          <p15:clr>
            <a:srgbClr val="000000"/>
          </p15:clr>
        </p15:guide>
        <p15:guide id="8" orient="horz" pos="572" userDrawn="1">
          <p15:clr>
            <a:srgbClr val="000000"/>
          </p15:clr>
        </p15:guide>
        <p15:guide id="9" orient="horz" pos="3997" userDrawn="1">
          <p15:clr>
            <a:srgbClr val="00000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87600" y="266700"/>
            <a:ext cx="9504363" cy="893763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de-DE" sz="2000"/>
              <a:t>Softwareengineering WS 25/26</a:t>
            </a:r>
            <a:br>
              <a:rPr lang="de-DE" sz="2000"/>
            </a:br>
            <a:r>
              <a:rPr lang="de-DE" sz="2000"/>
              <a:t>1. Meilenstein: Requirements</a:t>
            </a:r>
            <a:br>
              <a:rPr lang="de-DE" sz="2000"/>
            </a:br>
            <a:endParaRPr lang="de-DE" sz="200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3"/>
          </p:nvPr>
        </p:nvSpPr>
        <p:spPr>
          <a:xfrm>
            <a:off x="317500" y="5875557"/>
            <a:ext cx="11557000" cy="448945"/>
          </a:xfrm>
        </p:spPr>
        <p:txBody>
          <a:bodyPr>
            <a:normAutofit/>
          </a:bodyPr>
          <a:lstStyle/>
          <a:p>
            <a:r>
              <a:rPr lang="de-DE"/>
              <a:t>Wael Abdulltaif, Lucy Stahr &amp; Thanh Thao Tran</a:t>
            </a:r>
          </a:p>
        </p:txBody>
      </p:sp>
      <p:pic>
        <p:nvPicPr>
          <p:cNvPr id="10" name="Grafik 9" descr="Ein Bild, das Zeichnung, Darstellung, Text, Cartoon enthält.&#10;&#10;KI-generierte Inhalte können fehlerhaft sein.">
            <a:extLst>
              <a:ext uri="{FF2B5EF4-FFF2-40B4-BE49-F238E27FC236}">
                <a16:creationId xmlns:a16="http://schemas.microsoft.com/office/drawing/2014/main" id="{F32151E4-5719-410B-713B-AC7755B164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6444" y="1661746"/>
            <a:ext cx="7379112" cy="4121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321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0E6235-CE1D-CA6B-D9D5-95D310FAA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1. Meilenstein: Requirements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35FBC02-B577-4F90-7394-952AB386A2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2088" y="908050"/>
            <a:ext cx="11807825" cy="4078018"/>
          </a:xfrm>
        </p:spPr>
        <p:txBody>
          <a:bodyPr>
            <a:noAutofit/>
          </a:bodyPr>
          <a:lstStyle/>
          <a:p>
            <a:pPr algn="ctr"/>
            <a:endParaRPr lang="de-DE" sz="3600"/>
          </a:p>
          <a:p>
            <a:pPr algn="ctr"/>
            <a:endParaRPr lang="de-DE" sz="3600"/>
          </a:p>
          <a:p>
            <a:pPr algn="ctr"/>
            <a:r>
              <a:rPr lang="de-DE" sz="3600"/>
              <a:t>Teil 1: Vorstellung der Ergebnisse</a:t>
            </a:r>
          </a:p>
          <a:p>
            <a:pPr algn="ctr"/>
            <a:endParaRPr lang="de-DE" sz="3600"/>
          </a:p>
          <a:p>
            <a:pPr algn="ctr"/>
            <a:r>
              <a:rPr lang="de-DE" sz="3600"/>
              <a:t>Funktionale und nicht funktionale Anforderungen im Volere SnowCards Format</a:t>
            </a:r>
          </a:p>
        </p:txBody>
      </p:sp>
    </p:spTree>
    <p:extLst>
      <p:ext uri="{BB962C8B-B14F-4D97-AF65-F5344CB8AC3E}">
        <p14:creationId xmlns:p14="http://schemas.microsoft.com/office/powerpoint/2010/main" val="2083288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F7CB70-C765-E6D0-88A0-37CBDD8BD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Requirements</a:t>
            </a:r>
          </a:p>
        </p:txBody>
      </p:sp>
      <p:pic>
        <p:nvPicPr>
          <p:cNvPr id="6" name="Grafik 5" descr="Ein Bild, das Text, Kleidung, Screenshot, Schuhwerk enthält.&#10;&#10;KI-generierte Inhalte können fehlerhaft sein.">
            <a:extLst>
              <a:ext uri="{FF2B5EF4-FFF2-40B4-BE49-F238E27FC236}">
                <a16:creationId xmlns:a16="http://schemas.microsoft.com/office/drawing/2014/main" id="{54402438-911B-7DBF-66E2-A7A089A6D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414" y="1017000"/>
            <a:ext cx="6731172" cy="48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676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A3C1A8-5D07-8EB6-8227-CB7241780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Funktionale Anforderungen</a:t>
            </a:r>
          </a:p>
        </p:txBody>
      </p: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92CBD244-C9AF-C57C-19BD-2F8744F78E3B}"/>
              </a:ext>
            </a:extLst>
          </p:cNvPr>
          <p:cNvGrpSpPr/>
          <p:nvPr/>
        </p:nvGrpSpPr>
        <p:grpSpPr>
          <a:xfrm>
            <a:off x="250508" y="1674347"/>
            <a:ext cx="2452915" cy="3676926"/>
            <a:chOff x="312055" y="1205908"/>
            <a:chExt cx="2452915" cy="3676926"/>
          </a:xfrm>
        </p:grpSpPr>
        <p:sp>
          <p:nvSpPr>
            <p:cNvPr id="5" name="Textfeld 4">
              <a:extLst>
                <a:ext uri="{FF2B5EF4-FFF2-40B4-BE49-F238E27FC236}">
                  <a16:creationId xmlns:a16="http://schemas.microsoft.com/office/drawing/2014/main" id="{207D5B92-53C7-0928-F3D7-E925C2E5ECAD}"/>
                </a:ext>
              </a:extLst>
            </p:cNvPr>
            <p:cNvSpPr txBox="1"/>
            <p:nvPr/>
          </p:nvSpPr>
          <p:spPr>
            <a:xfrm>
              <a:off x="312056" y="3251200"/>
              <a:ext cx="2452914" cy="523220"/>
            </a:xfrm>
            <a:prstGeom prst="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de-DE" sz="2800"/>
                <a:t>Eingabemasken</a:t>
              </a:r>
            </a:p>
          </p:txBody>
        </p: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FEA7643E-EB1D-BFEB-849E-645D4C0AEED8}"/>
                </a:ext>
              </a:extLst>
            </p:cNvPr>
            <p:cNvSpPr txBox="1"/>
            <p:nvPr/>
          </p:nvSpPr>
          <p:spPr>
            <a:xfrm>
              <a:off x="312056" y="2228554"/>
              <a:ext cx="2452914" cy="523220"/>
            </a:xfrm>
            <a:prstGeom prst="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de-DE" sz="2800"/>
                <a:t>Speichern</a:t>
              </a:r>
            </a:p>
          </p:txBody>
        </p:sp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16EC7C29-A072-2515-4BE0-B16F5CE0D3FB}"/>
                </a:ext>
              </a:extLst>
            </p:cNvPr>
            <p:cNvSpPr txBox="1"/>
            <p:nvPr/>
          </p:nvSpPr>
          <p:spPr>
            <a:xfrm>
              <a:off x="312055" y="4359614"/>
              <a:ext cx="2452913" cy="523220"/>
            </a:xfrm>
            <a:prstGeom prst="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de-DE" sz="2800"/>
                <a:t>Bearbeiten</a:t>
              </a:r>
            </a:p>
          </p:txBody>
        </p:sp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04157A83-DC79-0E84-9CC7-6E3EDD4352B7}"/>
                </a:ext>
              </a:extLst>
            </p:cNvPr>
            <p:cNvSpPr txBox="1"/>
            <p:nvPr/>
          </p:nvSpPr>
          <p:spPr>
            <a:xfrm>
              <a:off x="312055" y="1205908"/>
              <a:ext cx="2452911" cy="523220"/>
            </a:xfrm>
            <a:prstGeom prst="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de-DE" sz="2800"/>
                <a:t>Suchen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B93F1D21-EBC6-0FAA-F87D-C68A8E6DA16A}"/>
              </a:ext>
            </a:extLst>
          </p:cNvPr>
          <p:cNvGrpSpPr/>
          <p:nvPr/>
        </p:nvGrpSpPr>
        <p:grpSpPr>
          <a:xfrm>
            <a:off x="4265454" y="1674347"/>
            <a:ext cx="3193143" cy="3676926"/>
            <a:chOff x="4339771" y="1205908"/>
            <a:chExt cx="3193143" cy="3676926"/>
          </a:xfrm>
        </p:grpSpPr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389E3610-FAC4-8EBB-CC6F-AA66F29EA605}"/>
                </a:ext>
              </a:extLst>
            </p:cNvPr>
            <p:cNvSpPr txBox="1"/>
            <p:nvPr/>
          </p:nvSpPr>
          <p:spPr>
            <a:xfrm>
              <a:off x="4339772" y="3251200"/>
              <a:ext cx="3193142" cy="523220"/>
            </a:xfrm>
            <a:prstGeom prst="rect">
              <a:avLst/>
            </a:prstGeom>
            <a:ln>
              <a:solidFill>
                <a:srgbClr val="E7EBF0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de-DE" sz="2800"/>
                <a:t>Statistiken erstellen</a:t>
              </a:r>
            </a:p>
          </p:txBody>
        </p: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A8592589-B68E-0BA0-A39E-B7F297988A64}"/>
                </a:ext>
              </a:extLst>
            </p:cNvPr>
            <p:cNvSpPr txBox="1"/>
            <p:nvPr/>
          </p:nvSpPr>
          <p:spPr>
            <a:xfrm>
              <a:off x="4339772" y="2228554"/>
              <a:ext cx="3193142" cy="523220"/>
            </a:xfrm>
            <a:prstGeom prst="rect">
              <a:avLst/>
            </a:prstGeom>
            <a:ln>
              <a:solidFill>
                <a:srgbClr val="E7EBF0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de-DE" sz="2800"/>
                <a:t>Visualisierung</a:t>
              </a:r>
            </a:p>
          </p:txBody>
        </p: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5E9CF37E-A896-8DF1-E798-B6DF4436369B}"/>
                </a:ext>
              </a:extLst>
            </p:cNvPr>
            <p:cNvSpPr txBox="1"/>
            <p:nvPr/>
          </p:nvSpPr>
          <p:spPr>
            <a:xfrm>
              <a:off x="4339772" y="4359614"/>
              <a:ext cx="3193140" cy="523220"/>
            </a:xfrm>
            <a:prstGeom prst="rect">
              <a:avLst/>
            </a:prstGeom>
            <a:ln>
              <a:solidFill>
                <a:srgbClr val="E7EBF0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de-DE" sz="2800"/>
                <a:t>Presets</a:t>
              </a:r>
            </a:p>
          </p:txBody>
        </p: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FF8D1A5B-2FEB-D982-A60F-5993DA7327DE}"/>
                </a:ext>
              </a:extLst>
            </p:cNvPr>
            <p:cNvSpPr txBox="1"/>
            <p:nvPr/>
          </p:nvSpPr>
          <p:spPr>
            <a:xfrm>
              <a:off x="4339771" y="1205908"/>
              <a:ext cx="3193141" cy="523220"/>
            </a:xfrm>
            <a:prstGeom prst="rect">
              <a:avLst/>
            </a:prstGeom>
            <a:ln>
              <a:solidFill>
                <a:srgbClr val="E7EBF0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de-DE" sz="2800"/>
                <a:t>Export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275B5D37-7D82-4166-125A-0037564CBF6C}"/>
              </a:ext>
            </a:extLst>
          </p:cNvPr>
          <p:cNvGrpSpPr/>
          <p:nvPr/>
        </p:nvGrpSpPr>
        <p:grpSpPr>
          <a:xfrm>
            <a:off x="9020629" y="1674347"/>
            <a:ext cx="2452914" cy="2568512"/>
            <a:chOff x="9020629" y="1205908"/>
            <a:chExt cx="2452914" cy="2568512"/>
          </a:xfrm>
        </p:grpSpPr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562E4770-EFEF-30CF-2148-55E809EF35BC}"/>
                </a:ext>
              </a:extLst>
            </p:cNvPr>
            <p:cNvSpPr txBox="1"/>
            <p:nvPr/>
          </p:nvSpPr>
          <p:spPr>
            <a:xfrm>
              <a:off x="9020629" y="2228554"/>
              <a:ext cx="2452914" cy="523220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de-DE" sz="2800"/>
                <a:t>3 Kontoarten</a:t>
              </a:r>
            </a:p>
          </p:txBody>
        </p: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92F951A0-77B3-3A18-5459-57EF0EA169C3}"/>
                </a:ext>
              </a:extLst>
            </p:cNvPr>
            <p:cNvSpPr txBox="1"/>
            <p:nvPr/>
          </p:nvSpPr>
          <p:spPr>
            <a:xfrm>
              <a:off x="9020629" y="3251200"/>
              <a:ext cx="2452914" cy="523220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de-DE" sz="2800"/>
                <a:t>Anmeldung</a:t>
              </a:r>
            </a:p>
          </p:txBody>
        </p: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3D060E36-C558-C0E9-EAF8-244D186F51B5}"/>
                </a:ext>
              </a:extLst>
            </p:cNvPr>
            <p:cNvSpPr txBox="1"/>
            <p:nvPr/>
          </p:nvSpPr>
          <p:spPr>
            <a:xfrm>
              <a:off x="9020629" y="1205908"/>
              <a:ext cx="2452914" cy="523220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de-DE" sz="2800"/>
                <a:t>Rechte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64674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1343025" y="152400"/>
            <a:ext cx="10656888" cy="468314"/>
          </a:xfrm>
        </p:spPr>
        <p:txBody>
          <a:bodyPr/>
          <a:lstStyle/>
          <a:p>
            <a:r>
              <a:rPr lang="de-DE"/>
              <a:t>Bsp. Funktionale Anforderung</a:t>
            </a:r>
            <a:endParaRPr lang="de-DE" dirty="0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86640BDC-96DF-211D-0AAD-8F9E8245D8A3}"/>
              </a:ext>
            </a:extLst>
          </p:cNvPr>
          <p:cNvGrpSpPr/>
          <p:nvPr/>
        </p:nvGrpSpPr>
        <p:grpSpPr>
          <a:xfrm>
            <a:off x="176530" y="1014171"/>
            <a:ext cx="11823383" cy="369332"/>
            <a:chOff x="176530" y="1113153"/>
            <a:chExt cx="11823383" cy="369332"/>
          </a:xfrm>
        </p:grpSpPr>
        <p:sp>
          <p:nvSpPr>
            <p:cNvPr id="3" name="Textfeld 2">
              <a:extLst>
                <a:ext uri="{FF2B5EF4-FFF2-40B4-BE49-F238E27FC236}">
                  <a16:creationId xmlns:a16="http://schemas.microsoft.com/office/drawing/2014/main" id="{703A161A-894D-AFB4-3B18-1A2B8F0411D8}"/>
                </a:ext>
              </a:extLst>
            </p:cNvPr>
            <p:cNvSpPr txBox="1"/>
            <p:nvPr/>
          </p:nvSpPr>
          <p:spPr>
            <a:xfrm>
              <a:off x="176530" y="1113153"/>
              <a:ext cx="2309119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de-DE" b="1" dirty="0" err="1">
                  <a:solidFill>
                    <a:schemeClr val="accent1"/>
                  </a:solidFill>
                </a:rPr>
                <a:t>Req</a:t>
              </a:r>
              <a:r>
                <a:rPr lang="de-DE" b="1" dirty="0">
                  <a:solidFill>
                    <a:schemeClr val="accent1"/>
                  </a:solidFill>
                </a:rPr>
                <a:t>-ID:</a:t>
              </a:r>
              <a:r>
                <a:rPr lang="de-DE" dirty="0">
                  <a:solidFill>
                    <a:schemeClr val="tx1"/>
                  </a:solidFill>
                </a:rPr>
                <a:t> </a:t>
              </a:r>
              <a:r>
                <a:rPr lang="de-DE" dirty="0"/>
                <a:t>FA-01</a:t>
              </a:r>
              <a:endParaRPr lang="de-DE" b="1" dirty="0">
                <a:solidFill>
                  <a:schemeClr val="accent1"/>
                </a:solidFill>
              </a:endParaRPr>
            </a:p>
          </p:txBody>
        </p:sp>
        <p:sp>
          <p:nvSpPr>
            <p:cNvPr id="4" name="Textfeld 3">
              <a:extLst>
                <a:ext uri="{FF2B5EF4-FFF2-40B4-BE49-F238E27FC236}">
                  <a16:creationId xmlns:a16="http://schemas.microsoft.com/office/drawing/2014/main" id="{4FB366A2-6D36-94CB-1CA9-CF4F02776B15}"/>
                </a:ext>
              </a:extLst>
            </p:cNvPr>
            <p:cNvSpPr txBox="1"/>
            <p:nvPr/>
          </p:nvSpPr>
          <p:spPr>
            <a:xfrm>
              <a:off x="2630905" y="1113153"/>
              <a:ext cx="3319839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de-DE" b="1">
                  <a:solidFill>
                    <a:schemeClr val="accent1"/>
                  </a:solidFill>
                </a:rPr>
                <a:t>Req-Type: </a:t>
              </a:r>
              <a:r>
                <a:rPr lang="de-DE">
                  <a:solidFill>
                    <a:schemeClr val="tx1"/>
                  </a:solidFill>
                </a:rPr>
                <a:t>Funktional</a:t>
              </a:r>
            </a:p>
          </p:txBody>
        </p:sp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136A3DB1-6D6E-F9A5-43C6-8F3D94A9AB2A}"/>
                </a:ext>
              </a:extLst>
            </p:cNvPr>
            <p:cNvSpPr txBox="1"/>
            <p:nvPr/>
          </p:nvSpPr>
          <p:spPr>
            <a:xfrm>
              <a:off x="6096000" y="1113153"/>
              <a:ext cx="5903913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de-DE" b="1">
                  <a:solidFill>
                    <a:schemeClr val="accent1"/>
                  </a:solidFill>
                </a:rPr>
                <a:t>Events/UC: </a:t>
              </a:r>
              <a:r>
                <a:rPr lang="de-DE">
                  <a:solidFill>
                    <a:schemeClr val="tx1"/>
                  </a:solidFill>
                </a:rPr>
                <a:t>Anruf mit einer Anfrage geht ein.</a:t>
              </a:r>
              <a:endParaRPr lang="de-DE" b="1">
                <a:solidFill>
                  <a:schemeClr val="accent1"/>
                </a:solidFill>
              </a:endParaRP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AD8734EA-33CE-1251-89ED-F9502F94C34E}"/>
              </a:ext>
            </a:extLst>
          </p:cNvPr>
          <p:cNvGrpSpPr/>
          <p:nvPr/>
        </p:nvGrpSpPr>
        <p:grpSpPr>
          <a:xfrm>
            <a:off x="168751" y="1549163"/>
            <a:ext cx="11854497" cy="3112638"/>
            <a:chOff x="160973" y="1725626"/>
            <a:chExt cx="11854497" cy="3112638"/>
          </a:xfrm>
        </p:grpSpPr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D86EE4EE-3715-702B-CB2A-AD1EC65E27CE}"/>
                </a:ext>
              </a:extLst>
            </p:cNvPr>
            <p:cNvSpPr txBox="1"/>
            <p:nvPr/>
          </p:nvSpPr>
          <p:spPr>
            <a:xfrm>
              <a:off x="160973" y="1725626"/>
              <a:ext cx="11838940" cy="64633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de-DE" b="1">
                  <a:solidFill>
                    <a:schemeClr val="accent1"/>
                  </a:solidFill>
                </a:rPr>
                <a:t>Description: </a:t>
              </a:r>
              <a:r>
                <a:rPr lang="de-DE">
                  <a:solidFill>
                    <a:schemeClr val="tx1"/>
                  </a:solidFill>
                </a:rPr>
                <a:t>Das System stellt eine Eingabemaske für Anfragen bereit, in der alle Daten zum Fall eingetragen werden können. (B/E/A)</a:t>
              </a:r>
              <a:endParaRPr lang="de-DE"/>
            </a:p>
          </p:txBody>
        </p: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A8D81241-0C34-036A-CB64-36987B77BDB4}"/>
                </a:ext>
              </a:extLst>
            </p:cNvPr>
            <p:cNvSpPr txBox="1"/>
            <p:nvPr/>
          </p:nvSpPr>
          <p:spPr>
            <a:xfrm>
              <a:off x="160973" y="2533023"/>
              <a:ext cx="11838940" cy="64633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de-DE" b="1">
                  <a:solidFill>
                    <a:schemeClr val="accent1"/>
                  </a:solidFill>
                </a:rPr>
                <a:t>Rationale: </a:t>
              </a:r>
              <a:r>
                <a:rPr lang="de-DE"/>
                <a:t>Mitarbeiterinnen sollen alle wichtigen Informationen zur Anfrage digital erfassen, anstatt sie händisch zu notieren.</a:t>
              </a:r>
            </a:p>
            <a:p>
              <a:endParaRPr lang="de-DE"/>
            </a:p>
          </p:txBody>
        </p: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83E6FD38-46CB-A69F-651E-03F1BE25919E}"/>
                </a:ext>
              </a:extLst>
            </p:cNvPr>
            <p:cNvSpPr txBox="1"/>
            <p:nvPr/>
          </p:nvSpPr>
          <p:spPr>
            <a:xfrm>
              <a:off x="176530" y="3340420"/>
              <a:ext cx="11838940" cy="64633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de-DE" b="1" dirty="0" err="1">
                  <a:solidFill>
                    <a:schemeClr val="accent1"/>
                  </a:solidFill>
                </a:rPr>
                <a:t>Originator</a:t>
              </a:r>
              <a:r>
                <a:rPr lang="de-DE" b="1" dirty="0">
                  <a:solidFill>
                    <a:schemeClr val="accent1"/>
                  </a:solidFill>
                </a:rPr>
                <a:t>: </a:t>
              </a:r>
              <a:r>
                <a:rPr lang="de-DE" dirty="0">
                  <a:solidFill>
                    <a:schemeClr val="tx1"/>
                  </a:solidFill>
                </a:rPr>
                <a:t>Kundinnen</a:t>
              </a:r>
              <a:endParaRPr lang="de-DE" dirty="0"/>
            </a:p>
            <a:p>
              <a:endParaRPr lang="de-DE" dirty="0"/>
            </a:p>
          </p:txBody>
        </p: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38CB1EB7-01B4-B1DF-6E44-DEC2840BC0FB}"/>
                </a:ext>
              </a:extLst>
            </p:cNvPr>
            <p:cNvSpPr txBox="1"/>
            <p:nvPr/>
          </p:nvSpPr>
          <p:spPr>
            <a:xfrm>
              <a:off x="176530" y="4191933"/>
              <a:ext cx="11838940" cy="64633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de-DE" b="1">
                  <a:solidFill>
                    <a:schemeClr val="accent1"/>
                  </a:solidFill>
                </a:rPr>
                <a:t>Fit Criterion: </a:t>
              </a:r>
              <a:r>
                <a:rPr lang="de-DE"/>
                <a:t>Nutzerin kann über das Interface neue Anfragen anlegen, ausfüllen und speichern.</a:t>
              </a:r>
            </a:p>
            <a:p>
              <a:endParaRPr lang="de-DE"/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08DBD43E-CC38-7153-C678-08B06BEF5872}"/>
              </a:ext>
            </a:extLst>
          </p:cNvPr>
          <p:cNvGrpSpPr/>
          <p:nvPr/>
        </p:nvGrpSpPr>
        <p:grpSpPr>
          <a:xfrm>
            <a:off x="168751" y="4866983"/>
            <a:ext cx="11823383" cy="646331"/>
            <a:chOff x="176530" y="1113153"/>
            <a:chExt cx="11823383" cy="646331"/>
          </a:xfrm>
        </p:grpSpPr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38A20748-45F7-2408-4EA6-ACF1BEDFD072}"/>
                </a:ext>
              </a:extLst>
            </p:cNvPr>
            <p:cNvSpPr txBox="1"/>
            <p:nvPr/>
          </p:nvSpPr>
          <p:spPr>
            <a:xfrm>
              <a:off x="176530" y="1113153"/>
              <a:ext cx="2309119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de-DE" b="1">
                  <a:solidFill>
                    <a:schemeClr val="accent1"/>
                  </a:solidFill>
                </a:rPr>
                <a:t>Priority: </a:t>
              </a:r>
              <a:r>
                <a:rPr lang="de-DE"/>
                <a:t>Must</a:t>
              </a:r>
            </a:p>
          </p:txBody>
        </p: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F71C4861-1111-CD85-20EE-563A9E16BC32}"/>
                </a:ext>
              </a:extLst>
            </p:cNvPr>
            <p:cNvSpPr txBox="1"/>
            <p:nvPr/>
          </p:nvSpPr>
          <p:spPr>
            <a:xfrm>
              <a:off x="2630905" y="1113153"/>
              <a:ext cx="3319839" cy="64633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de-DE" b="1" dirty="0">
                  <a:solidFill>
                    <a:schemeClr val="accent1"/>
                  </a:solidFill>
                </a:rPr>
                <a:t>Customer </a:t>
              </a:r>
              <a:r>
                <a:rPr lang="de-DE" b="1" dirty="0" err="1">
                  <a:solidFill>
                    <a:schemeClr val="accent1"/>
                  </a:solidFill>
                </a:rPr>
                <a:t>Satisfaction</a:t>
              </a:r>
              <a:r>
                <a:rPr lang="de-DE" b="1" dirty="0">
                  <a:solidFill>
                    <a:schemeClr val="accent1"/>
                  </a:solidFill>
                </a:rPr>
                <a:t>: </a:t>
              </a:r>
              <a:r>
                <a:rPr lang="de-DE" dirty="0"/>
                <a:t>Digitale Erfassung spart Zeit und Papier.</a:t>
              </a:r>
              <a:endParaRPr lang="de-DE" b="1" dirty="0">
                <a:solidFill>
                  <a:schemeClr val="accent1"/>
                </a:solidFill>
              </a:endParaRPr>
            </a:p>
          </p:txBody>
        </p:sp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19546FB2-4917-9EEA-9E26-7B1F5377766A}"/>
                </a:ext>
              </a:extLst>
            </p:cNvPr>
            <p:cNvSpPr txBox="1"/>
            <p:nvPr/>
          </p:nvSpPr>
          <p:spPr>
            <a:xfrm>
              <a:off x="6096000" y="1113153"/>
              <a:ext cx="5903913" cy="64633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de-DE" b="1" dirty="0">
                  <a:solidFill>
                    <a:schemeClr val="accent1"/>
                  </a:solidFill>
                </a:rPr>
                <a:t>Customer </a:t>
              </a:r>
              <a:r>
                <a:rPr lang="de-DE" b="1" dirty="0" err="1">
                  <a:solidFill>
                    <a:schemeClr val="accent1"/>
                  </a:solidFill>
                </a:rPr>
                <a:t>Dissatisfaction</a:t>
              </a:r>
              <a:r>
                <a:rPr lang="de-DE" b="1" dirty="0">
                  <a:solidFill>
                    <a:schemeClr val="accent1"/>
                  </a:solidFill>
                </a:rPr>
                <a:t>: </a:t>
              </a:r>
              <a:r>
                <a:rPr lang="de-DE" dirty="0"/>
                <a:t>Erste Dateneingabe dauert länger als handschriftlich.</a:t>
              </a:r>
              <a:endParaRPr lang="de-DE" b="1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9" name="Textfeld 18">
            <a:extLst>
              <a:ext uri="{FF2B5EF4-FFF2-40B4-BE49-F238E27FC236}">
                <a16:creationId xmlns:a16="http://schemas.microsoft.com/office/drawing/2014/main" id="{705DEA52-D470-70E8-3711-101EF925AEBB}"/>
              </a:ext>
            </a:extLst>
          </p:cNvPr>
          <p:cNvSpPr txBox="1"/>
          <p:nvPr/>
        </p:nvSpPr>
        <p:spPr>
          <a:xfrm>
            <a:off x="176529" y="5513314"/>
            <a:ext cx="5766436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b="1" dirty="0" err="1">
                <a:solidFill>
                  <a:schemeClr val="accent1"/>
                </a:solidFill>
              </a:rPr>
              <a:t>Supporting</a:t>
            </a:r>
            <a:r>
              <a:rPr lang="de-DE" b="1" dirty="0">
                <a:solidFill>
                  <a:schemeClr val="accent1"/>
                </a:solidFill>
              </a:rPr>
              <a:t> Material: </a:t>
            </a:r>
            <a:r>
              <a:rPr lang="de-DE" dirty="0"/>
              <a:t>Daten, die erhoben werden sollen stehen im Statistik-Bogen.</a:t>
            </a:r>
          </a:p>
          <a:p>
            <a:endParaRPr lang="de-DE" dirty="0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83C21FDF-224D-2716-2892-6ED0453AEEFD}"/>
              </a:ext>
            </a:extLst>
          </p:cNvPr>
          <p:cNvSpPr txBox="1"/>
          <p:nvPr/>
        </p:nvSpPr>
        <p:spPr>
          <a:xfrm>
            <a:off x="6088221" y="5513314"/>
            <a:ext cx="5888356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b="1" dirty="0" err="1">
                <a:solidFill>
                  <a:schemeClr val="accent1"/>
                </a:solidFill>
              </a:rPr>
              <a:t>Conflicts</a:t>
            </a:r>
            <a:r>
              <a:rPr lang="de-DE" b="1" dirty="0">
                <a:solidFill>
                  <a:schemeClr val="accent1"/>
                </a:solidFill>
              </a:rPr>
              <a:t>: </a:t>
            </a:r>
            <a:r>
              <a:rPr lang="de-DE" dirty="0"/>
              <a:t>Benutzerfreundlichkeit vs. Vollständigkeit.</a:t>
            </a:r>
          </a:p>
          <a:p>
            <a:endParaRPr lang="de-DE" dirty="0"/>
          </a:p>
          <a:p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82010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4BCCE-F1A2-CD40-1BD1-C2AC78A40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6487F9-24FE-A5D9-87D5-83AF26041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Nicht-Funktionale Anforderungen</a:t>
            </a:r>
          </a:p>
        </p:txBody>
      </p:sp>
      <p:pic>
        <p:nvPicPr>
          <p:cNvPr id="4" name="Grafik 3" descr="Ein Bild, das Text, Diagramm, Clipart, Origami enthält.&#10;&#10;KI-generierte Inhalte können fehlerhaft sein.">
            <a:extLst>
              <a:ext uri="{FF2B5EF4-FFF2-40B4-BE49-F238E27FC236}">
                <a16:creationId xmlns:a16="http://schemas.microsoft.com/office/drawing/2014/main" id="{6F88990B-D1A9-8A95-5295-8EC7FD5472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428"/>
          <a:stretch>
            <a:fillRect/>
          </a:stretch>
        </p:blipFill>
        <p:spPr>
          <a:xfrm>
            <a:off x="3897085" y="1068241"/>
            <a:ext cx="4397830" cy="4721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496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9EE3D-2202-DE79-002F-87AE9F9DE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6E00D8-8CD0-D09E-72BE-B5AB50EDD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Nicht-Funktionale Anforderungen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92E94E6-E903-1605-991D-C2A988F76B06}"/>
              </a:ext>
            </a:extLst>
          </p:cNvPr>
          <p:cNvSpPr txBox="1"/>
          <p:nvPr/>
        </p:nvSpPr>
        <p:spPr>
          <a:xfrm>
            <a:off x="312055" y="3251200"/>
            <a:ext cx="2982685" cy="52322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sz="2800"/>
              <a:t>Readme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385ED02-4F89-6355-7442-568AD53CC219}"/>
              </a:ext>
            </a:extLst>
          </p:cNvPr>
          <p:cNvSpPr txBox="1"/>
          <p:nvPr/>
        </p:nvSpPr>
        <p:spPr>
          <a:xfrm>
            <a:off x="312055" y="2050754"/>
            <a:ext cx="2982687" cy="52322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sz="2800"/>
              <a:t>Docker-Image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C5FFBACD-3F20-32E6-42CA-C7769EED3740}"/>
              </a:ext>
            </a:extLst>
          </p:cNvPr>
          <p:cNvSpPr txBox="1"/>
          <p:nvPr/>
        </p:nvSpPr>
        <p:spPr>
          <a:xfrm>
            <a:off x="312054" y="4284027"/>
            <a:ext cx="2982687" cy="52322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sz="2800"/>
              <a:t>Benutzerhandbuch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83459455-8AE7-59A1-0B09-81CDE63E3E45}"/>
              </a:ext>
            </a:extLst>
          </p:cNvPr>
          <p:cNvSpPr txBox="1"/>
          <p:nvPr/>
        </p:nvSpPr>
        <p:spPr>
          <a:xfrm>
            <a:off x="9020629" y="4284027"/>
            <a:ext cx="2452914" cy="523220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sz="2800"/>
              <a:t>Architektur</a:t>
            </a:r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60AFDE69-FE06-266D-5786-09AB4283CFCA}"/>
              </a:ext>
            </a:extLst>
          </p:cNvPr>
          <p:cNvGrpSpPr/>
          <p:nvPr/>
        </p:nvGrpSpPr>
        <p:grpSpPr>
          <a:xfrm>
            <a:off x="4288970" y="2050754"/>
            <a:ext cx="3614057" cy="1635745"/>
            <a:chOff x="4288970" y="2050754"/>
            <a:chExt cx="3614057" cy="1635745"/>
          </a:xfrm>
        </p:grpSpPr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0C7D8FD3-7F36-483F-1525-5FD1ED1B318E}"/>
                </a:ext>
              </a:extLst>
            </p:cNvPr>
            <p:cNvSpPr txBox="1"/>
            <p:nvPr/>
          </p:nvSpPr>
          <p:spPr>
            <a:xfrm>
              <a:off x="4288970" y="3163279"/>
              <a:ext cx="3614057" cy="523220"/>
            </a:xfrm>
            <a:prstGeom prst="rect">
              <a:avLst/>
            </a:prstGeom>
            <a:ln>
              <a:solidFill>
                <a:srgbClr val="E7EBF0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de-DE" sz="2800"/>
                <a:t>Maximale Wartedauer</a:t>
              </a:r>
            </a:p>
          </p:txBody>
        </p: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79E2A03D-4576-1F4A-2B56-BA7799B4B004}"/>
                </a:ext>
              </a:extLst>
            </p:cNvPr>
            <p:cNvSpPr txBox="1"/>
            <p:nvPr/>
          </p:nvSpPr>
          <p:spPr>
            <a:xfrm>
              <a:off x="4288970" y="2050754"/>
              <a:ext cx="3614056" cy="523220"/>
            </a:xfrm>
            <a:prstGeom prst="rect">
              <a:avLst/>
            </a:prstGeom>
            <a:ln>
              <a:solidFill>
                <a:srgbClr val="E7EBF0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de-DE" sz="2800"/>
                <a:t>Maximale Klicktiefe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93E1B10C-8E87-6698-DA3A-243B11519654}"/>
              </a:ext>
            </a:extLst>
          </p:cNvPr>
          <p:cNvGrpSpPr/>
          <p:nvPr/>
        </p:nvGrpSpPr>
        <p:grpSpPr>
          <a:xfrm>
            <a:off x="9020629" y="2050754"/>
            <a:ext cx="2452914" cy="1635745"/>
            <a:chOff x="9020629" y="2050754"/>
            <a:chExt cx="2452914" cy="1635745"/>
          </a:xfrm>
        </p:grpSpPr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F1087718-09AA-944C-F8E7-80397E83380F}"/>
                </a:ext>
              </a:extLst>
            </p:cNvPr>
            <p:cNvSpPr txBox="1"/>
            <p:nvPr/>
          </p:nvSpPr>
          <p:spPr>
            <a:xfrm>
              <a:off x="9020629" y="3163279"/>
              <a:ext cx="2452914" cy="523220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de-DE" sz="2800"/>
                <a:t>Datenschutz</a:t>
              </a:r>
            </a:p>
          </p:txBody>
        </p: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1E2109EE-20C2-5C29-C213-750726C5DB7A}"/>
                </a:ext>
              </a:extLst>
            </p:cNvPr>
            <p:cNvSpPr txBox="1"/>
            <p:nvPr/>
          </p:nvSpPr>
          <p:spPr>
            <a:xfrm>
              <a:off x="9020629" y="2050754"/>
              <a:ext cx="2452914" cy="523220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de-DE" sz="2800"/>
                <a:t>Passwörter</a:t>
              </a:r>
            </a:p>
          </p:txBody>
        </p:sp>
      </p:grpSp>
      <p:sp>
        <p:nvSpPr>
          <p:cNvPr id="3" name="Textfeld 2">
            <a:extLst>
              <a:ext uri="{FF2B5EF4-FFF2-40B4-BE49-F238E27FC236}">
                <a16:creationId xmlns:a16="http://schemas.microsoft.com/office/drawing/2014/main" id="{D3991F5E-30BD-965C-D672-F0D04A323636}"/>
              </a:ext>
            </a:extLst>
          </p:cNvPr>
          <p:cNvSpPr txBox="1"/>
          <p:nvPr/>
        </p:nvSpPr>
        <p:spPr>
          <a:xfrm>
            <a:off x="4288969" y="4284027"/>
            <a:ext cx="3614057" cy="523220"/>
          </a:xfrm>
          <a:prstGeom prst="rect">
            <a:avLst/>
          </a:prstGeom>
          <a:ln>
            <a:solidFill>
              <a:srgbClr val="E7EBF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sz="2800"/>
              <a:t>Bearbeitungsdatum</a:t>
            </a:r>
          </a:p>
        </p:txBody>
      </p:sp>
    </p:spTree>
    <p:extLst>
      <p:ext uri="{BB962C8B-B14F-4D97-AF65-F5344CB8AC3E}">
        <p14:creationId xmlns:p14="http://schemas.microsoft.com/office/powerpoint/2010/main" val="795375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22435-28F3-6080-B0A7-4CB499C50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0681138F-C695-0E84-26CD-24954F4B1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3025" y="152400"/>
            <a:ext cx="10656888" cy="468314"/>
          </a:xfrm>
        </p:spPr>
        <p:txBody>
          <a:bodyPr/>
          <a:lstStyle/>
          <a:p>
            <a:r>
              <a:rPr lang="de-DE"/>
              <a:t>Bsp. Nicht-Funktionale Anforderungen</a:t>
            </a:r>
            <a:endParaRPr lang="de-DE" dirty="0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DD7094DA-5863-7F1C-8BC2-6BDF8A2256D8}"/>
              </a:ext>
            </a:extLst>
          </p:cNvPr>
          <p:cNvGrpSpPr/>
          <p:nvPr/>
        </p:nvGrpSpPr>
        <p:grpSpPr>
          <a:xfrm>
            <a:off x="176530" y="1014171"/>
            <a:ext cx="11823383" cy="369332"/>
            <a:chOff x="176530" y="1113153"/>
            <a:chExt cx="11823383" cy="369332"/>
          </a:xfrm>
        </p:grpSpPr>
        <p:sp>
          <p:nvSpPr>
            <p:cNvPr id="3" name="Textfeld 2">
              <a:extLst>
                <a:ext uri="{FF2B5EF4-FFF2-40B4-BE49-F238E27FC236}">
                  <a16:creationId xmlns:a16="http://schemas.microsoft.com/office/drawing/2014/main" id="{98BB007C-28F7-0BCE-983B-C549EDBA19A7}"/>
                </a:ext>
              </a:extLst>
            </p:cNvPr>
            <p:cNvSpPr txBox="1"/>
            <p:nvPr/>
          </p:nvSpPr>
          <p:spPr>
            <a:xfrm>
              <a:off x="176530" y="1113153"/>
              <a:ext cx="2309119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de-DE" b="1" dirty="0" err="1">
                  <a:solidFill>
                    <a:schemeClr val="accent1"/>
                  </a:solidFill>
                </a:rPr>
                <a:t>Req</a:t>
              </a:r>
              <a:r>
                <a:rPr lang="de-DE" b="1" dirty="0">
                  <a:solidFill>
                    <a:schemeClr val="accent1"/>
                  </a:solidFill>
                </a:rPr>
                <a:t>-ID: </a:t>
              </a:r>
              <a:r>
                <a:rPr lang="de-DE" dirty="0"/>
                <a:t>NF-05</a:t>
              </a:r>
              <a:endParaRPr lang="de-DE" b="1" dirty="0">
                <a:solidFill>
                  <a:schemeClr val="accent1"/>
                </a:solidFill>
              </a:endParaRPr>
            </a:p>
          </p:txBody>
        </p:sp>
        <p:sp>
          <p:nvSpPr>
            <p:cNvPr id="4" name="Textfeld 3">
              <a:extLst>
                <a:ext uri="{FF2B5EF4-FFF2-40B4-BE49-F238E27FC236}">
                  <a16:creationId xmlns:a16="http://schemas.microsoft.com/office/drawing/2014/main" id="{33534FEB-5987-A45D-70C4-2D3CE67FF37A}"/>
                </a:ext>
              </a:extLst>
            </p:cNvPr>
            <p:cNvSpPr txBox="1"/>
            <p:nvPr/>
          </p:nvSpPr>
          <p:spPr>
            <a:xfrm>
              <a:off x="2630905" y="1113153"/>
              <a:ext cx="3319839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de-DE" b="1">
                  <a:solidFill>
                    <a:schemeClr val="accent1"/>
                  </a:solidFill>
                </a:rPr>
                <a:t>Req-Type: </a:t>
              </a:r>
              <a:r>
                <a:rPr lang="de-DE">
                  <a:solidFill>
                    <a:schemeClr val="tx1"/>
                  </a:solidFill>
                </a:rPr>
                <a:t>Nicht-Funktional</a:t>
              </a:r>
            </a:p>
          </p:txBody>
        </p:sp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556B2DB1-8474-F552-E61C-B604D165263B}"/>
                </a:ext>
              </a:extLst>
            </p:cNvPr>
            <p:cNvSpPr txBox="1"/>
            <p:nvPr/>
          </p:nvSpPr>
          <p:spPr>
            <a:xfrm>
              <a:off x="6096000" y="1113153"/>
              <a:ext cx="5903913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de-DE" b="1">
                  <a:solidFill>
                    <a:schemeClr val="accent1"/>
                  </a:solidFill>
                </a:rPr>
                <a:t>Events/UC: </a:t>
              </a:r>
              <a:r>
                <a:rPr lang="de-DE">
                  <a:solidFill>
                    <a:schemeClr val="tx1"/>
                  </a:solidFill>
                </a:rPr>
                <a:t>Erste Nutzungserfahrungen</a:t>
              </a:r>
              <a:endParaRPr lang="de-DE">
                <a:solidFill>
                  <a:schemeClr val="accent1"/>
                </a:solidFill>
              </a:endParaRP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EBF1D553-60C2-C2AD-5ABC-F1E4D72D39E0}"/>
              </a:ext>
            </a:extLst>
          </p:cNvPr>
          <p:cNvGrpSpPr/>
          <p:nvPr/>
        </p:nvGrpSpPr>
        <p:grpSpPr>
          <a:xfrm>
            <a:off x="168751" y="1549163"/>
            <a:ext cx="11854497" cy="3112638"/>
            <a:chOff x="160973" y="1725626"/>
            <a:chExt cx="11854497" cy="3112638"/>
          </a:xfrm>
        </p:grpSpPr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1B30D9E7-2393-6386-1AFB-9B570C8226B9}"/>
                </a:ext>
              </a:extLst>
            </p:cNvPr>
            <p:cNvSpPr txBox="1"/>
            <p:nvPr/>
          </p:nvSpPr>
          <p:spPr>
            <a:xfrm>
              <a:off x="160973" y="1725626"/>
              <a:ext cx="11838940" cy="64633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de-DE" b="1">
                  <a:solidFill>
                    <a:schemeClr val="accent1"/>
                  </a:solidFill>
                </a:rPr>
                <a:t>Description: </a:t>
              </a:r>
              <a:r>
                <a:rPr lang="de-DE">
                  <a:solidFill>
                    <a:schemeClr val="tx1"/>
                  </a:solidFill>
                </a:rPr>
                <a:t>Zur Software wird eine Benutzerhandbuch mitgeliefert, dass die Funktionen und die Anwendung der Software erklärt.</a:t>
              </a:r>
              <a:endParaRPr lang="de-DE"/>
            </a:p>
          </p:txBody>
        </p: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A2FD66F3-DBE2-5B01-CCBE-AE7AFF8AF6AF}"/>
                </a:ext>
              </a:extLst>
            </p:cNvPr>
            <p:cNvSpPr txBox="1"/>
            <p:nvPr/>
          </p:nvSpPr>
          <p:spPr>
            <a:xfrm>
              <a:off x="160973" y="2533023"/>
              <a:ext cx="11838940" cy="64633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de-DE" b="1">
                  <a:solidFill>
                    <a:schemeClr val="accent1"/>
                  </a:solidFill>
                </a:rPr>
                <a:t>Rationale: </a:t>
              </a:r>
              <a:r>
                <a:rPr lang="de-DE">
                  <a:solidFill>
                    <a:schemeClr val="tx1"/>
                  </a:solidFill>
                </a:rPr>
                <a:t>Kundinnen sollen sich die Benutzung der Software mit dem Handbuch selbst beibringen können.</a:t>
              </a:r>
            </a:p>
            <a:p>
              <a:endParaRPr lang="de-DE"/>
            </a:p>
          </p:txBody>
        </p: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73756660-C581-FED3-9287-33117BC75804}"/>
                </a:ext>
              </a:extLst>
            </p:cNvPr>
            <p:cNvSpPr txBox="1"/>
            <p:nvPr/>
          </p:nvSpPr>
          <p:spPr>
            <a:xfrm>
              <a:off x="176530" y="3340420"/>
              <a:ext cx="11838940" cy="64633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de-DE" b="1" dirty="0" err="1">
                  <a:solidFill>
                    <a:schemeClr val="accent1"/>
                  </a:solidFill>
                </a:rPr>
                <a:t>Originator</a:t>
              </a:r>
              <a:r>
                <a:rPr lang="de-DE" b="1" dirty="0">
                  <a:solidFill>
                    <a:schemeClr val="accent1"/>
                  </a:solidFill>
                </a:rPr>
                <a:t>: </a:t>
              </a:r>
              <a:r>
                <a:rPr lang="de-DE" dirty="0">
                  <a:solidFill>
                    <a:schemeClr val="tx1"/>
                  </a:solidFill>
                </a:rPr>
                <a:t>Praktikumsleitung</a:t>
              </a:r>
            </a:p>
            <a:p>
              <a:endParaRPr lang="de-DE" dirty="0"/>
            </a:p>
          </p:txBody>
        </p: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FF555161-2E68-53AC-85A0-695609D36466}"/>
                </a:ext>
              </a:extLst>
            </p:cNvPr>
            <p:cNvSpPr txBox="1"/>
            <p:nvPr/>
          </p:nvSpPr>
          <p:spPr>
            <a:xfrm>
              <a:off x="176530" y="4191933"/>
              <a:ext cx="11838940" cy="64633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de-DE" b="1">
                  <a:solidFill>
                    <a:schemeClr val="accent1"/>
                  </a:solidFill>
                </a:rPr>
                <a:t>Fit Criterion: </a:t>
              </a:r>
              <a:r>
                <a:rPr lang="de-DE">
                  <a:solidFill>
                    <a:schemeClr val="tx1"/>
                  </a:solidFill>
                </a:rPr>
                <a:t>Nutzerhandbuch wird als z.B. PDF bereitgestellt.</a:t>
              </a:r>
            </a:p>
            <a:p>
              <a:endParaRPr lang="de-DE"/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472EA5D6-487D-030B-FDBC-960C1EF1FDC0}"/>
              </a:ext>
            </a:extLst>
          </p:cNvPr>
          <p:cNvGrpSpPr/>
          <p:nvPr/>
        </p:nvGrpSpPr>
        <p:grpSpPr>
          <a:xfrm>
            <a:off x="168751" y="4866983"/>
            <a:ext cx="11823383" cy="646331"/>
            <a:chOff x="176530" y="1113153"/>
            <a:chExt cx="11823383" cy="646331"/>
          </a:xfrm>
        </p:grpSpPr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36F9ACF3-E1EB-C7F3-4340-DDD362219249}"/>
                </a:ext>
              </a:extLst>
            </p:cNvPr>
            <p:cNvSpPr txBox="1"/>
            <p:nvPr/>
          </p:nvSpPr>
          <p:spPr>
            <a:xfrm>
              <a:off x="176530" y="1113153"/>
              <a:ext cx="2309119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de-DE" b="1">
                  <a:solidFill>
                    <a:schemeClr val="accent1"/>
                  </a:solidFill>
                </a:rPr>
                <a:t>Priority: </a:t>
              </a:r>
              <a:r>
                <a:rPr lang="de-DE">
                  <a:solidFill>
                    <a:schemeClr val="tx1"/>
                  </a:solidFill>
                </a:rPr>
                <a:t>Should</a:t>
              </a:r>
            </a:p>
          </p:txBody>
        </p: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F735514D-09FE-D12B-4DA5-06724A96AA5E}"/>
                </a:ext>
              </a:extLst>
            </p:cNvPr>
            <p:cNvSpPr txBox="1"/>
            <p:nvPr/>
          </p:nvSpPr>
          <p:spPr>
            <a:xfrm>
              <a:off x="2630905" y="1113153"/>
              <a:ext cx="3319839" cy="64633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de-DE" b="1" dirty="0">
                  <a:solidFill>
                    <a:schemeClr val="accent1"/>
                  </a:solidFill>
                </a:rPr>
                <a:t>Customer </a:t>
              </a:r>
              <a:r>
                <a:rPr lang="de-DE" b="1" dirty="0" err="1">
                  <a:solidFill>
                    <a:schemeClr val="accent1"/>
                  </a:solidFill>
                </a:rPr>
                <a:t>Satisfaction</a:t>
              </a:r>
              <a:r>
                <a:rPr lang="de-DE" b="1" dirty="0">
                  <a:solidFill>
                    <a:schemeClr val="accent1"/>
                  </a:solidFill>
                </a:rPr>
                <a:t>: </a:t>
              </a:r>
              <a:r>
                <a:rPr lang="de-DE" dirty="0"/>
                <a:t>Software nutzbar ohne Schulung.</a:t>
              </a:r>
              <a:endParaRPr lang="de-DE" b="1" dirty="0">
                <a:solidFill>
                  <a:schemeClr val="accent1"/>
                </a:solidFill>
              </a:endParaRPr>
            </a:p>
          </p:txBody>
        </p:sp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50BC2B10-3053-37FE-1817-1E6DE57120D2}"/>
                </a:ext>
              </a:extLst>
            </p:cNvPr>
            <p:cNvSpPr txBox="1"/>
            <p:nvPr/>
          </p:nvSpPr>
          <p:spPr>
            <a:xfrm>
              <a:off x="6096000" y="1113153"/>
              <a:ext cx="5903913" cy="64633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de-DE" b="1" dirty="0">
                  <a:solidFill>
                    <a:schemeClr val="accent1"/>
                  </a:solidFill>
                </a:rPr>
                <a:t>Customer </a:t>
              </a:r>
              <a:r>
                <a:rPr lang="de-DE" b="1" dirty="0" err="1">
                  <a:solidFill>
                    <a:schemeClr val="accent1"/>
                  </a:solidFill>
                </a:rPr>
                <a:t>Dissatisfaction</a:t>
              </a:r>
              <a:r>
                <a:rPr lang="de-DE" b="1" dirty="0">
                  <a:solidFill>
                    <a:schemeClr val="accent1"/>
                  </a:solidFill>
                </a:rPr>
                <a:t>: </a:t>
              </a:r>
              <a:r>
                <a:rPr lang="de-DE" dirty="0"/>
                <a:t>Pflege des Handbuchs erforderlich.</a:t>
              </a:r>
            </a:p>
            <a:p>
              <a:endParaRPr lang="de-DE" b="1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9" name="Textfeld 18">
            <a:extLst>
              <a:ext uri="{FF2B5EF4-FFF2-40B4-BE49-F238E27FC236}">
                <a16:creationId xmlns:a16="http://schemas.microsoft.com/office/drawing/2014/main" id="{97C4FA56-B25C-370F-D7B9-437E78137688}"/>
              </a:ext>
            </a:extLst>
          </p:cNvPr>
          <p:cNvSpPr txBox="1"/>
          <p:nvPr/>
        </p:nvSpPr>
        <p:spPr>
          <a:xfrm>
            <a:off x="166033" y="5674380"/>
            <a:ext cx="5766436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b="1" dirty="0" err="1">
                <a:solidFill>
                  <a:schemeClr val="accent1"/>
                </a:solidFill>
              </a:rPr>
              <a:t>Supporting</a:t>
            </a:r>
            <a:r>
              <a:rPr lang="de-DE" b="1" dirty="0">
                <a:solidFill>
                  <a:schemeClr val="accent1"/>
                </a:solidFill>
              </a:rPr>
              <a:t> Material: </a:t>
            </a:r>
            <a:r>
              <a:rPr lang="de-DE" dirty="0"/>
              <a:t>Technische Anforderungen </a:t>
            </a:r>
            <a:r>
              <a:rPr lang="de-DE" dirty="0">
                <a:solidFill>
                  <a:schemeClr val="tx1"/>
                </a:solidFill>
              </a:rPr>
              <a:t>S.4</a:t>
            </a:r>
            <a:endParaRPr lang="de-DE" dirty="0"/>
          </a:p>
          <a:p>
            <a:endParaRPr lang="de-DE" dirty="0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7D73054C-7DBA-26E2-5016-BD88EE71FAEC}"/>
              </a:ext>
            </a:extLst>
          </p:cNvPr>
          <p:cNvSpPr txBox="1"/>
          <p:nvPr/>
        </p:nvSpPr>
        <p:spPr>
          <a:xfrm>
            <a:off x="6088221" y="5674379"/>
            <a:ext cx="5888356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b="1" dirty="0" err="1">
                <a:solidFill>
                  <a:schemeClr val="accent1"/>
                </a:solidFill>
              </a:rPr>
              <a:t>Conflicts</a:t>
            </a:r>
            <a:r>
              <a:rPr lang="de-DE" b="1" dirty="0">
                <a:solidFill>
                  <a:schemeClr val="accent1"/>
                </a:solidFill>
              </a:rPr>
              <a:t>: </a:t>
            </a:r>
            <a:r>
              <a:rPr lang="de-DE" dirty="0"/>
              <a:t>Detailliertheit vs. Aktualität.</a:t>
            </a:r>
            <a:endParaRPr lang="de-DE" b="1" dirty="0">
              <a:solidFill>
                <a:schemeClr val="accent1"/>
              </a:solidFill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55363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64ED4-CEE1-E20C-68DB-48BE1BBD0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D7407B-89CC-A41A-7A13-C78CF5697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1. Meilenstein: Requirements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EAF741C-3CB1-0B91-7D4C-3CE4AE51B4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2088" y="908050"/>
            <a:ext cx="11807825" cy="4078018"/>
          </a:xfrm>
        </p:spPr>
        <p:txBody>
          <a:bodyPr>
            <a:noAutofit/>
          </a:bodyPr>
          <a:lstStyle/>
          <a:p>
            <a:pPr algn="ctr"/>
            <a:endParaRPr lang="de-DE" sz="3600"/>
          </a:p>
          <a:p>
            <a:pPr algn="ctr"/>
            <a:endParaRPr lang="de-DE" sz="3600"/>
          </a:p>
          <a:p>
            <a:pPr algn="ctr"/>
            <a:endParaRPr lang="de-DE" sz="3600"/>
          </a:p>
          <a:p>
            <a:pPr algn="ctr"/>
            <a:endParaRPr lang="de-DE" sz="3600"/>
          </a:p>
          <a:p>
            <a:pPr algn="ctr"/>
            <a:r>
              <a:rPr lang="de-DE" sz="3600"/>
              <a:t>Teil 2: Reflexion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C08DA82-B1F9-B912-290E-2F9E6CF9C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315" y="2547257"/>
            <a:ext cx="1763486" cy="1763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2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4D90F-7124-BCA5-2BC9-7DF5B923F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D1F0EF-C4ED-6579-DC05-FD8D8435E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Reflexion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0329E4D-1DAF-7A97-6FC2-AAF7463A039B}"/>
              </a:ext>
            </a:extLst>
          </p:cNvPr>
          <p:cNvSpPr txBox="1"/>
          <p:nvPr/>
        </p:nvSpPr>
        <p:spPr>
          <a:xfrm>
            <a:off x="4118599" y="3044279"/>
            <a:ext cx="3954801" cy="76944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de-DE" sz="4400"/>
              <a:t>Gruppenfindung</a:t>
            </a:r>
          </a:p>
        </p:txBody>
      </p:sp>
      <p:pic>
        <p:nvPicPr>
          <p:cNvPr id="1026" name="Picture 2" descr="Gruppenarbeit System-Symbol Linienumriss-Design">
            <a:extLst>
              <a:ext uri="{FF2B5EF4-FFF2-40B4-BE49-F238E27FC236}">
                <a16:creationId xmlns:a16="http://schemas.microsoft.com/office/drawing/2014/main" id="{E8170F57-1982-D926-6EB6-2260075F62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132" y="2061707"/>
            <a:ext cx="2734582" cy="2734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rafik 6" descr="Ein Bild, das Design, Grafiken, Logo, Screenshot enthält.&#10;&#10;KI-generierte Inhalte können fehlerhaft sein.">
            <a:extLst>
              <a:ext uri="{FF2B5EF4-FFF2-40B4-BE49-F238E27FC236}">
                <a16:creationId xmlns:a16="http://schemas.microsoft.com/office/drawing/2014/main" id="{C186856F-62BD-C893-5791-3A7E3D8FF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6285" y="2223152"/>
            <a:ext cx="2411693" cy="2411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0658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C0619-F35F-6D73-04FE-E5668EBD7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1F48E2-063A-92B4-2C60-C2BF36299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Reflexion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69A2D51-0A95-33CE-EB3E-297C6A9A1E3B}"/>
              </a:ext>
            </a:extLst>
          </p:cNvPr>
          <p:cNvSpPr txBox="1"/>
          <p:nvPr/>
        </p:nvSpPr>
        <p:spPr>
          <a:xfrm>
            <a:off x="4118599" y="3044279"/>
            <a:ext cx="3940631" cy="76944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de-DE" sz="4400"/>
              <a:t>Aufgabenteilung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56CA40C-8587-5512-975E-59C273557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71" y="1558470"/>
            <a:ext cx="3741057" cy="3741057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06075AC9-631B-A6E0-DD75-C0B380547A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3073" y="1274534"/>
            <a:ext cx="4308927" cy="4308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828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5E711-F6DA-E118-2D76-35A20A9BD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2FA605-C50F-4DD0-AB82-4A7E26B23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Reflexion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9E2E481-751A-8A04-9A45-73E7E691D9E2}"/>
              </a:ext>
            </a:extLst>
          </p:cNvPr>
          <p:cNvSpPr txBox="1"/>
          <p:nvPr/>
        </p:nvSpPr>
        <p:spPr>
          <a:xfrm>
            <a:off x="3233902" y="1360622"/>
            <a:ext cx="5724196" cy="76944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de-DE" sz="4400"/>
              <a:t>Anforderungsermittlung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6A4803A-9B68-FD4E-CF07-4D1DA1918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38828"/>
            <a:ext cx="3962400" cy="39624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6E94FA47-2C06-15D1-85B9-C5B109A04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3628" y="2442029"/>
            <a:ext cx="3653972" cy="3653972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CA3C6D0A-3EBE-558B-CBAF-8773CB8146C9}"/>
              </a:ext>
            </a:extLst>
          </p:cNvPr>
          <p:cNvSpPr txBox="1"/>
          <p:nvPr/>
        </p:nvSpPr>
        <p:spPr>
          <a:xfrm>
            <a:off x="5642991" y="3884294"/>
            <a:ext cx="90601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400"/>
              <a:t>vs.</a:t>
            </a:r>
          </a:p>
        </p:txBody>
      </p:sp>
    </p:spTree>
    <p:extLst>
      <p:ext uri="{BB962C8B-B14F-4D97-AF65-F5344CB8AC3E}">
        <p14:creationId xmlns:p14="http://schemas.microsoft.com/office/powerpoint/2010/main" val="41341463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B4771-09FE-6C77-AD0E-D83EE13A0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CA8193-35FB-9778-C72E-023B25A8C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Reflexion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55BFA8A-C056-EDAC-E242-0DA498B07E72}"/>
              </a:ext>
            </a:extLst>
          </p:cNvPr>
          <p:cNvSpPr txBox="1"/>
          <p:nvPr/>
        </p:nvSpPr>
        <p:spPr>
          <a:xfrm>
            <a:off x="537947" y="2972522"/>
            <a:ext cx="5252335" cy="769441"/>
          </a:xfrm>
          <a:prstGeom prst="rect">
            <a:avLst/>
          </a:prstGeom>
          <a:solidFill>
            <a:srgbClr val="FFD80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de-DE" sz="4400"/>
              <a:t>Kommunikationskanal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3FE92D03-1549-55E1-A674-8ABA7182223F}"/>
              </a:ext>
            </a:extLst>
          </p:cNvPr>
          <p:cNvSpPr txBox="1"/>
          <p:nvPr/>
        </p:nvSpPr>
        <p:spPr>
          <a:xfrm>
            <a:off x="550609" y="4128230"/>
            <a:ext cx="5227009" cy="769441"/>
          </a:xfrm>
          <a:prstGeom prst="rect">
            <a:avLst/>
          </a:prstGeom>
          <a:solidFill>
            <a:srgbClr val="FFD80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de-DE" sz="4400"/>
              <a:t>Zeiten/Treffen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06FA560-32F9-41C6-2A90-73DBA41F0447}"/>
              </a:ext>
            </a:extLst>
          </p:cNvPr>
          <p:cNvSpPr txBox="1"/>
          <p:nvPr/>
        </p:nvSpPr>
        <p:spPr>
          <a:xfrm>
            <a:off x="6904669" y="2972522"/>
            <a:ext cx="3954801" cy="76944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de-DE" sz="4400"/>
              <a:t>Gruppenfindung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ADDE8BB-C6E3-1D0E-E335-EACB40B3756B}"/>
              </a:ext>
            </a:extLst>
          </p:cNvPr>
          <p:cNvSpPr txBox="1"/>
          <p:nvPr/>
        </p:nvSpPr>
        <p:spPr>
          <a:xfrm>
            <a:off x="6904669" y="4105054"/>
            <a:ext cx="3954800" cy="76944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de-DE" sz="4400"/>
              <a:t>Zeiteinteilung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5B387F63-8FC6-9395-B07F-9F27A7B3445D}"/>
              </a:ext>
            </a:extLst>
          </p:cNvPr>
          <p:cNvSpPr txBox="1"/>
          <p:nvPr/>
        </p:nvSpPr>
        <p:spPr>
          <a:xfrm>
            <a:off x="6904669" y="5237586"/>
            <a:ext cx="3954799" cy="76944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de-DE" sz="4400"/>
              <a:t>Revision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758B72BD-E68C-E6D1-418A-A7CB0384EC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000"/>
          <a:stretch>
            <a:fillRect/>
          </a:stretch>
        </p:blipFill>
        <p:spPr>
          <a:xfrm>
            <a:off x="8331051" y="983805"/>
            <a:ext cx="900210" cy="1800419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5274E36E-60F8-3849-8011-929C0BFF18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00"/>
          <a:stretch>
            <a:fillRect/>
          </a:stretch>
        </p:blipFill>
        <p:spPr>
          <a:xfrm>
            <a:off x="2483468" y="620714"/>
            <a:ext cx="1081755" cy="2163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260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14DAA-4B30-8987-F2DB-38AC15E20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6FC9D1-028C-A334-084E-ED0C28A42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Reflexion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CD772EB-FFC3-7A51-DF8D-67A253F88FED}"/>
              </a:ext>
            </a:extLst>
          </p:cNvPr>
          <p:cNvSpPr txBox="1"/>
          <p:nvPr/>
        </p:nvSpPr>
        <p:spPr>
          <a:xfrm>
            <a:off x="1259548" y="1099365"/>
            <a:ext cx="9672904" cy="76944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de-DE" sz="4400"/>
              <a:t>Was machen wir das nächste mal besser?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1B73634-FFCA-F0B3-8028-3E3914FA7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025" y="2079175"/>
            <a:ext cx="3947883" cy="3947883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474E0909-4C36-6182-1C04-219CE135E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9084" y="2293690"/>
            <a:ext cx="3733368" cy="373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208653"/>
      </p:ext>
    </p:extLst>
  </p:cSld>
  <p:clrMapOvr>
    <a:masterClrMapping/>
  </p:clrMapOvr>
</p:sld>
</file>

<file path=ppt/theme/theme1.xml><?xml version="1.0" encoding="utf-8"?>
<a:theme xmlns:a="http://schemas.openxmlformats.org/drawingml/2006/main" name="TUC Startfolie">
  <a:themeElements>
    <a:clrScheme name="Benutzerdefiniert 1">
      <a:dk1>
        <a:srgbClr val="000000"/>
      </a:dk1>
      <a:lt1>
        <a:srgbClr val="FFFFFF"/>
      </a:lt1>
      <a:dk2>
        <a:srgbClr val="7F7F7F"/>
      </a:dk2>
      <a:lt2>
        <a:srgbClr val="FFFFFF"/>
      </a:lt2>
      <a:accent1>
        <a:srgbClr val="005F50"/>
      </a:accent1>
      <a:accent2>
        <a:srgbClr val="4A8246"/>
      </a:accent2>
      <a:accent3>
        <a:srgbClr val="00C6A7"/>
      </a:accent3>
      <a:accent4>
        <a:srgbClr val="F2F2F2"/>
      </a:accent4>
      <a:accent5>
        <a:srgbClr val="92D050"/>
      </a:accent5>
      <a:accent6>
        <a:srgbClr val="00322A"/>
      </a:accent6>
      <a:hlink>
        <a:srgbClr val="005F50"/>
      </a:hlink>
      <a:folHlink>
        <a:srgbClr val="00AC8F"/>
      </a:folHlink>
    </a:clrScheme>
    <a:fontScheme name="4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äsentation4" id="{8E23E5B1-ED62-4819-9B36-298B6B0E6F18}" vid="{DB5A10D5-1650-48E2-8DB9-B470665AD63C}"/>
    </a:ext>
  </a:extLst>
</a:theme>
</file>

<file path=ppt/theme/theme2.xml><?xml version="1.0" encoding="utf-8"?>
<a:theme xmlns:a="http://schemas.openxmlformats.org/drawingml/2006/main" name="TUC Folgefolien ">
  <a:themeElements>
    <a:clrScheme name="Benutzerdefiniert 2">
      <a:dk1>
        <a:srgbClr val="000000"/>
      </a:dk1>
      <a:lt1>
        <a:srgbClr val="FFFFFF"/>
      </a:lt1>
      <a:dk2>
        <a:srgbClr val="7F7F7F"/>
      </a:dk2>
      <a:lt2>
        <a:srgbClr val="FFFFFF"/>
      </a:lt2>
      <a:accent1>
        <a:srgbClr val="005F50"/>
      </a:accent1>
      <a:accent2>
        <a:srgbClr val="4A8246"/>
      </a:accent2>
      <a:accent3>
        <a:srgbClr val="00C6A7"/>
      </a:accent3>
      <a:accent4>
        <a:srgbClr val="F2F2F2"/>
      </a:accent4>
      <a:accent5>
        <a:srgbClr val="92D050"/>
      </a:accent5>
      <a:accent6>
        <a:srgbClr val="00322A"/>
      </a:accent6>
      <a:hlink>
        <a:srgbClr val="005F50"/>
      </a:hlink>
      <a:folHlink>
        <a:srgbClr val="00AC8F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4" id="{8E23E5B1-ED62-4819-9B36-298B6B0E6F18}" vid="{AAFD04C6-EAA1-4087-BFE9-807DE0C284A0}"/>
    </a:ext>
  </a:extLst>
</a:theme>
</file>

<file path=ppt/theme/theme3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INFO_KH</Template>
  <TotalTime>0</TotalTime>
  <Words>338</Words>
  <Application>Microsoft Office PowerPoint</Application>
  <PresentationFormat>Breitbild</PresentationFormat>
  <Paragraphs>84</Paragraphs>
  <Slides>14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14</vt:i4>
      </vt:variant>
    </vt:vector>
  </HeadingPairs>
  <TitlesOfParts>
    <vt:vector size="19" baseType="lpstr">
      <vt:lpstr>Calibri</vt:lpstr>
      <vt:lpstr>Roboto</vt:lpstr>
      <vt:lpstr>Arial</vt:lpstr>
      <vt:lpstr>TUC Startfolie</vt:lpstr>
      <vt:lpstr>TUC Folgefolien </vt:lpstr>
      <vt:lpstr>Softwareengineering WS 25/26 1. Meilenstein: Requirements </vt:lpstr>
      <vt:lpstr>1. Meilenstein: Requirements</vt:lpstr>
      <vt:lpstr>Requirements</vt:lpstr>
      <vt:lpstr>Funktionale Anforderungen</vt:lpstr>
      <vt:lpstr>Bsp. Funktionale Anforderung</vt:lpstr>
      <vt:lpstr>Nicht-Funktionale Anforderungen</vt:lpstr>
      <vt:lpstr>Nicht-Funktionale Anforderungen</vt:lpstr>
      <vt:lpstr>Bsp. Nicht-Funktionale Anforderungen</vt:lpstr>
      <vt:lpstr>1. Meilenstein: Requirements</vt:lpstr>
      <vt:lpstr>Reflexion</vt:lpstr>
      <vt:lpstr>Reflexion</vt:lpstr>
      <vt:lpstr>Reflexion</vt:lpstr>
      <vt:lpstr>Reflexion</vt:lpstr>
      <vt:lpstr>Reflexion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Lucy Stahr</dc:creator>
  <cp:keywords/>
  <dc:description/>
  <cp:lastModifiedBy>Lucy Stahr</cp:lastModifiedBy>
  <cp:revision>55</cp:revision>
  <cp:lastPrinted>2015-10-30T11:33:42Z</cp:lastPrinted>
  <dcterms:created xsi:type="dcterms:W3CDTF">2025-10-24T15:32:09Z</dcterms:created>
  <dcterms:modified xsi:type="dcterms:W3CDTF">2025-11-03T17:34:31Z</dcterms:modified>
  <cp:category>Corporate Design der TU Chemnitz</cp:category>
</cp:coreProperties>
</file>